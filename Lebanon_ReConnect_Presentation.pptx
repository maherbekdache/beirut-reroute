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Maher Bekdash, and this is my LebNet Tech Fellows final project: Beirut ReRoute, which grew into Lebanon ReConnect. In one sentence, this project designs, and proves in simulation, an AI-driven path from Beirut's fragmented public transport to a regionally-reconnected Lebanon. Over the next few minutes I'll walk through why this problem matters, how my thinking on it evolved three separate times, exactly how the AI methodology works, what the real results actually are, and what I learned building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talk. First, the problem — why Lebanon's transport system needed this project. Second, and I want to spend real time here, the evolution of thought: this project did not arrive at its final form on day one, and I think the path it took is as instructive as the destination. Third, the methodology, split into two layers. Fourth, the real results, all pulled from actual code runs, not estimates. Fifth, what's genuinely novel here and, just as important, what I'm not claiming. And finally, the action plan and my honest reflection on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matters. The World Bank estimates 650,000 vehicles enter the Greater Beirut Area every single day, and congestion costs Lebanon roughly 5 percent of its GDP. Lebanon has the highest transport-related CO2 emissions per capita in the Levant. And even though walk-accessibility to some kind of stop today measures at 92.2 percent, that remaining 7.8 percent is around 235,000 real people with no practical way to reach public transport. The deeper issue is that Beirut's transport is a patchwork: informal vans fill gaps organically, and the new 2024 OCFTC formal bus network — eleven lines — runs in the exact same mixed traffic as every private car, with no dedicated lanes, no signal priority, and critically, no feeder network connecting underserved neighborhoods to it. So the real question this project asks is: what would it actually take to fix that, concretely and provably, and how far could that ambition scale — from one neighborhood, all the way up to the whole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aim, stated as precisely as I can state it. Design, and prove in simulation, an AI-driven path from Beirut's fragmented transit to a regionally-reconnected Lebanon. I want to be specific about what that means in practice. This is not a diagnosis — I'm not just producing another report that says 'Beirut has a transit problem.' It's not a wish list either. It's an AI method that actually designs a route network using real optimization, a simulation that actually tests that network against the status quo using real road data, and real, sourced regional data quantifying what reconnecting Lebanon regionally could concretely mean for Beirut's role in the wider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evolution of thought — part one. This started as simply wanting to fix Beirut's buses: I cared specifically about routes, congestion hotspots, coverage gaps, and modern technology like IEEE 802.11p, or V2X, on Beiruti roads. Before committing to a direction, I generated four scoped candidate ideas: a transit-desert detector, a congestion-plus-V2X corridor simulation, an AI trip planner for the informal bus network, and a mobility-equity dashboard. I chose the congestion-plus-V2X direction: predict congestion hotspots with machine learning, then simulate a V2X-style adaptive traffic signal controller on one corridor. But before writing a line of code, I did a scope reality check — reinforcement-learning-based signal control, layered on top of a full separate ML prediction pipeline, is genuinely ambitious for solo work in three weeks. So I descoped deliberately: one corridor instead of the whole network, an existing reinforcement-learning library instead of a custom controller I'd have to build and debug from scratch, and one prediction model instead of two. The idea stayed the same; the risk went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Evolution of thought, part two. At this point I got direct pushback on the framing, and it was the right pushback: 'I don't just want to predict congestion — I want to propose a system that solves the current shortcomings. Congestion prediction is a subtopic, used as a black box.' That single sentence restructured the entire project. The AI headline stopped being congestion prediction and became network design itself: a coverage-optimization algorithm — specifically, a Maximal Covering Location Problem, or MCLP — that actually proposes a feeder route network, rather than just diagnosing where the problems are. The travel-time and congestion model got demoted to a supporting utility that feeds realistic estimates into the design and simulation steps — never the star of the show. And a simulation got added: a rule-based transit-signal-priority simulation, representing what real V2X and 802.11p communication would enable, that validates the proposed network against today's system. This is where Layer B was born — what I now call Beirut ReRoute.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Evolution of thought, part three, and this is the big one. The ask expanded again: 'I want to envision all of Lebanon, not just Beirut' — ports, rail, trams, metro, international lines, Beirut as a regional hub connecting to Damascus, Amman, Cyprus, and Turkey, regardless of budget. My honest reality check: physically simulating ports, ships, and a national rail network is not buildable solo in a matter of days. But the ambition itself was completely legitimate, and when I actually researched it, it turned out to be extremely well-timed rather than speculative. There is a real, dated Jounieh-to-Cyprus ferry launching in 2026. There is a real Turkey-Syria-Jordan-Saudi Arabia agreement reviving the historic Hejaz Railway, signed across 2025 and 2026. And Lebanon is already a signatory to the Arab Mashreq International Railway agreement. So instead of building one project that tried to do everything and risked finishing none of it, I reconciled the ambition into two honestly-scoped layers — which I'll show you next. And around this same point, I discovered that Layer B, the Beirut pilot, was already substantially implemented in real, tested code — so the work pivoted directly into extending that codebase for the new national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two layers fit together. Layer A, Lebanon ReConnect, is the national and regional vision: a lightweight network graph of Lebanon's ports, its historic and currently-being-revived rail lines, and the 2026 regional ferry, evaluated using graph centrality analysis rather than physical simulation. It answers one specific question: how much more central could Beirut become, regionally, if these dormant and planned links were restored? This layer is scoped to days, not weeks, and it's explicitly topological rather than engineering-grade. Layer B, Beirut ReRoute, is the AI-designed, simulated pilot: the coverage-optimization algorithm designs a real feeder network for underserved Beirut neighborhoods, connecting them to the 2024 OCFTC trunk lines, and a signal-priority simulation tests that proposed system against today's, on real OSM roads and real geocoded stops. This layer is scoped to one region, but it's fully executable and fully tested. And critically, the two are connected by a phased action plan — Layer B is explicitly Phase 1 of Layer A's larger vision, not a separate, disconnected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get into how Layer B actually works, technically, in four stages. Stage one is data acquisition: real OpenStreetMap road and walk networks, WorldPop population density data, the crowdsourced Lebanese Bus Routes dataset for informal vans, and OCFTC's nine formal lines, which I hand-transcribed from transitapp-dot-com and geocoded through OpenStreetMap's Nominatim service — 191 stops total, 157 successfully resolved. Stage two is accessibility scoring: an H3 hexagonal grid scores every cell's walk-time to its nearest stop today, which gives the status-quo baseline of 92.2 percent population-weighted coverage. Stage three is the actual AI network design: a Maximal Covering Location Problem, solved with PuLP and OR-Tools, chooses feeder stops that maximize newly-covered underserved population for each trunk line — this is the real 'AI designs a network' step, not a diagnostic. Stage four is the signal-priority simulation: a SimPy discrete-event simulation runs status-quo versus proposed — meaning the feeder network plus rule-based transit signal priority representing V2X and 802.11p — on real roads with real traffic signal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Layer A's methodology, and I want to be clear about why this is a graph rather than a simulation. It starts with 18 sourced nodes: five coastal hub cities, three inland hubs and rail junctions, two border crossings, five regional cities, and three ferry destinations — every single one tied to a real historic route, a real signed agreement, or a real dated 2026 launch, not an invented placeholder. Then 18 sourced edges across two states: a status-quo graph with just today's formal buses and informal links, seven edges, versus a proposed graph that adds historic-dormant rail, the Arab Mashreq Railway, the Hejaz Railway revival corridor, and the Jounieh ferry — eighteen edges total. On both graphs, I compute betweenness and closeness centrality using NetworkX, weighted by great-circle distance, which quantifies Beirut's structural role instead of just asserting it in prose. And every number that comes out is a real before-and-after delta from the actual computed graphs — including one negative, counter-intuitive result that I kept and explained rather than dropping, which I'll show you in the results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technically curious, here's the full stack. GeoPandas and Shapely handle geospatial data wrangling. OSMnx pulls real road and walk networks. H3, Uber's hexagonal spatial index, builds the accessibility grid. PuLP and OR-Tools solve the MCLP optimization. NetworkX runs the graph algorithms and centrality analysis for Layer A. SimPy powers the discrete-event traffic simulation. Folium builds the interactive Leaflet maps. Matplotlib produces the static charts and diagrams you're seeing in this deck. And Nominatim handles real-world geocoding throughout. All of it runs on Python 3.14, backed by a sixteen-out-of-sixteen passing test suite, and the entire pipeline reproduces from a single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real results, starting with Layer B's citywide accessibility. Today, 92.2 percent of the Greater Beirut Area's population is within walking reach of some kind of stop. With the AI-designed feeder network added, that rises to 97.4 percent. Concretely, that's 156,594 additional people reached — and I want to emphasize that number is computed directly from the MCLP optimizer's real output, not an estimate or a round number I picked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number answers a different, narrower question: does the proposed system actually work when you simulate real riders moving through it? Among people who were previously completely uncovered — literally no route existed for them — simulated trip completion goes from 0 percent to 91.9 percent once they have the feeder-plus-trunk system available. The average simulated door-to-door trip time comes out to about 162 minutes, and that number is pulled upward by one genuinely long intercity corridor — line ML1, at roughly four and a half hours trunk time alone. That's a real long-haul corridor, not a simulation bug, and I want to be upfront about that rather than quietly averaging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this down per line: across the 7 lines that received a feeder network, 22 feeder stops were placed, covering 68.4 percent — 156,594 out of 228,965 people — of each line's underserved population. On trunk speed, signal priority produces small but real gains specifically where a corridor actually has OpenStreetMap-tagged traffic signals for it to act on — lines B3 and B4 see the clearest gains. Lines B6-ML2 and ML1 show no change at all, because their corridors contain zero real traffic-signal nodes — signal priority literally has nothing to intervene on there. I'm calling that out explicitly as an honest null result, not a bug I'm hiding.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Layer A. This is the headline regional number: if Lebanon's dormant and planned links were restored, Beirut's betweenness centrality in the regional network increases by 400 percent, from about 0.132 to about 0.662. Betweenness centrality measures how often a node sits on the shortest path between two other nodes — it's a structural 'bridge' score. So this isn't just saying Beirut gets more connections. It's saying Beirut becomes the node that everything else in the region increasingly has to route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a result I want to spend real time on, because I think how you handle a result like this says a lot about the rigor of a project. Beirut's closeness centrality — a different metric, measuring average distance to every reachable node — actually falls, by about 44 percent, from roughly 0.0082 to 0.0046. That is not a bug. Closeness measures average distance to everywhere reachable, and the proposed network makes genuinely distant places reachable for the very first time — Riyadh, Mersin, Larnaca, some of them over 1,500 kilometers away. Adding far-but-newly-reachable places increases the average distance faster than it increases how many places you can reach. The honest takeaway is that reconnecting Lebanon gives it a bridging or gateway role in the region, not a 'closer to everything' role — and I chose to report that finding and explain it, rather than quietly drop the metric that didn't confirm my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actually novel here, pulling it together? First, this is design, not diagnosis — an optimization algorithm that proposes an actual route network, not a model that just flags where problems are. Second, two honestly-different scales: a lightweight graph method for national vision, reconciled with a fully-simulated method for a real pilot, instead of one project overreaching on everything. Third, this is grounded in live regional history — the Hejaz Railway revival and the Jounieh ferry are real 2025-2026 developments, so this project is timed with the region, not speculating about it. Fourth, full reproducibility: one command rebuilds every number and every figure in this entire presentation from source data, backed by a fully passing test suite. Fifth, real bugs, documented rather than erased — five separate real data bugs were found and fixed during actual pipeline runs, and I kept a written record of each one. And sixth, honesty about limits, which gets its own slide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explicit about what I'm not claiming. On Layer B: the origin-destination demand is representative hub-based flow, not a full four-step travel demand model; feeder route geometry is heuristic stop-chaining, not full vehicle routing; and the congestion multiplier applied to free-flow speeds is a documented, unvalidated placeholder pending a better public source. On Layer A: edge weight is great-circle distance, meaning this is a topological abstraction, not a costed or routing-grade network; the node coordinates were pre-seeded rather than pulled live, because my development sandbox had no route to the geocoding service, and I've flagged that explicitly for live re-verification; and three of Layer B's real trunk lines — ML1, ML4, and B6-ML2 — have unconfirmed regular-operation status per the project's own earlier quality-check work, which I've carried through honestly rather than smoothing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go next? I've laid out a four-phase roadmap, deliberately tied to real initiatives already underway rather than invented ones. Phase one is this project's Beirut pilot — the feeder network plus signal priority, proven in simulation. Phase two replicates the same AI network-design method around the other coastal hub cities: Tripoli, Saida, Tyre, and Jounieh. Phase three is domestic rail revival — Beirut to the Bekaa to Damascus, and Tripoli to Homs — tied directly to OCFTC, ACTC, and the Ministry of Public Works and Transport. And phase four is regional integration: plugging into the Arab Mashreq Railway and the Hejaz Railway revival that are already being negotiated by real governments right now. The end state across all four phases: public transport, not the private car, becomes the default way to move through Lebanon.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honest reflections on the process itself. What was rewarding: watching real numbers come out of real code — 92.2 to 97.4 percent, a 400 percent centrality increase — rather than estimates I made up for a slide. The discipline of descoping three separate times without ever actually losing the original ambition, just relocating it into a vision layer that could stay honest about its own scope. And discovering that the region's own history was already pointing the same direction I wanted to take the project. What was challenging: constantly balancing genuine national-scale ambition against a solo, originally three-week, and later seven-day timeline, without either abandoning the vision or letting it swallow the whole deliverable. Working around a sandboxed development environment with no live route to a geocoding service, which I solved by pre-seeding known-accurate data and documenting precisely why that's low-risk for these particular, well-known places. And reporting a counter-intuitive result — that falling closeness centrality number — honestly, instead of quietly dropping the one metric that didn't confirm the thesis I was hoping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now and final submission, here's what's left. Live re-verification: re-running the pipeline on a machine with normal internet access, and spot-checking the pre-seeded geocoding against live Nominatim results. Writing the required two-to-four page final report, which is largely a synthesis of material that already exists across this deck and the project's documentation. Recording the three-minute video walking through the plan, the two-layer execution, and these results. And pushing the repository to GitHub so the code is properly open-sourced as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Lebanon ReConnect, from one underserved Beirut neighborhood all the way to a reconnected region. Thank you for listening — I'm Maher Bekdash, this was built for the LebNet Tech Fellows program, and I'm happy to go deeper into any part of the methodology 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A45"/>
        </a:solidFill>
      </p:bgPr>
    </p:bg>
    <p:spTree>
      <p:nvGrpSpPr>
        <p:cNvPr id="1" name=""/>
        <p:cNvGrpSpPr/>
        <p:nvPr/>
      </p:nvGrpSpPr>
      <p:grpSpPr>
        <a:xfrm>
          <a:off x="0" y="0"/>
          <a:ext cx="0" cy="0"/>
          <a:chOff x="0" y="0"/>
          <a:chExt cx="0" cy="0"/>
        </a:xfrm>
      </p:grpSpPr>
      <p:sp>
        <p:nvSpPr>
          <p:cNvPr id="2" name="Text 0"/>
          <p:cNvSpPr/>
          <p:nvPr/>
        </p:nvSpPr>
        <p:spPr>
          <a:xfrm>
            <a:off x="822960" y="1371600"/>
            <a:ext cx="10058400" cy="365760"/>
          </a:xfrm>
          <a:prstGeom prst="rect">
            <a:avLst/>
          </a:prstGeom>
          <a:noFill/>
          <a:ln/>
        </p:spPr>
        <p:txBody>
          <a:bodyPr wrap="square" lIns="0" tIns="0" rIns="0" bIns="0" rtlCol="0" anchor="ctr"/>
          <a:lstStyle/>
          <a:p>
            <a:pPr indent="0" marL="0">
              <a:buNone/>
            </a:pPr>
            <a:r>
              <a:rPr lang="en-US" sz="1300" b="1" spc="200" kern="0" dirty="0">
                <a:solidFill>
                  <a:srgbClr val="C8102E"/>
                </a:solidFill>
              </a:rPr>
              <a:t>LEBNET TECH FELLOWS · AI FOR LEBANON · SUMMER 2026</a:t>
            </a:r>
            <a:endParaRPr lang="en-US" sz="1300" dirty="0"/>
          </a:p>
        </p:txBody>
      </p:sp>
      <p:sp>
        <p:nvSpPr>
          <p:cNvPr id="3" name="Text 1"/>
          <p:cNvSpPr/>
          <p:nvPr/>
        </p:nvSpPr>
        <p:spPr>
          <a:xfrm>
            <a:off x="822960" y="182880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Beirut ReRoute</a:t>
            </a:r>
            <a:endParaRPr lang="en-US" sz="5400" dirty="0"/>
          </a:p>
        </p:txBody>
      </p:sp>
      <p:sp>
        <p:nvSpPr>
          <p:cNvPr id="4" name="Text 2"/>
          <p:cNvSpPr/>
          <p:nvPr/>
        </p:nvSpPr>
        <p:spPr>
          <a:xfrm>
            <a:off x="822960" y="2697480"/>
            <a:ext cx="10515600" cy="914400"/>
          </a:xfrm>
          <a:prstGeom prst="rect">
            <a:avLst/>
          </a:prstGeom>
          <a:noFill/>
          <a:ln/>
        </p:spPr>
        <p:txBody>
          <a:bodyPr wrap="square" lIns="0" tIns="0" rIns="0" bIns="0" rtlCol="0" anchor="ctr"/>
          <a:lstStyle/>
          <a:p>
            <a:pPr indent="0" marL="0">
              <a:buNone/>
            </a:pPr>
            <a:r>
              <a:rPr lang="en-US" sz="4400" b="1" dirty="0">
                <a:solidFill>
                  <a:srgbClr val="CFEAE3"/>
                </a:solidFill>
                <a:latin typeface="Cambria" pitchFamily="34" charset="0"/>
                <a:ea typeface="Cambria" pitchFamily="34" charset="-122"/>
                <a:cs typeface="Cambria" pitchFamily="34" charset="-120"/>
              </a:rPr>
              <a:t>→  Lebanon ReConnect</a:t>
            </a:r>
            <a:endParaRPr lang="en-US" sz="4400" dirty="0"/>
          </a:p>
        </p:txBody>
      </p:sp>
      <p:sp>
        <p:nvSpPr>
          <p:cNvPr id="5" name="Text 3"/>
          <p:cNvSpPr/>
          <p:nvPr/>
        </p:nvSpPr>
        <p:spPr>
          <a:xfrm>
            <a:off x="822960" y="3703320"/>
            <a:ext cx="8961120" cy="822960"/>
          </a:xfrm>
          <a:prstGeom prst="rect">
            <a:avLst/>
          </a:prstGeom>
          <a:noFill/>
          <a:ln/>
        </p:spPr>
        <p:txBody>
          <a:bodyPr wrap="square" lIns="0" tIns="0" rIns="0" bIns="0" rtlCol="0" anchor="ctr"/>
          <a:lstStyle/>
          <a:p>
            <a:pPr indent="0" marL="0">
              <a:buNone/>
            </a:pPr>
            <a:r>
              <a:rPr lang="en-US" sz="1500" dirty="0">
                <a:solidFill>
                  <a:srgbClr val="CFEAE3"/>
                </a:solidFill>
                <a:latin typeface="Calibri" pitchFamily="34" charset="0"/>
                <a:ea typeface="Calibri" pitchFamily="34" charset="-122"/>
                <a:cs typeface="Calibri" pitchFamily="34" charset="-120"/>
              </a:rPr>
              <a:t>An AI-designed, simulated, and regionally-envisioned public transport system for Lebanon — from one underserved Beirut neighborhood to a reconnected national and regional network.</a:t>
            </a:r>
            <a:endParaRPr lang="en-US" sz="1500" dirty="0"/>
          </a:p>
        </p:txBody>
      </p:sp>
      <p:sp>
        <p:nvSpPr>
          <p:cNvPr id="6" name="Text 4"/>
          <p:cNvSpPr/>
          <p:nvPr/>
        </p:nvSpPr>
        <p:spPr>
          <a:xfrm>
            <a:off x="822960" y="598932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Maher Bekdash</a:t>
            </a:r>
            <a:endParaRPr lang="en-US" sz="1400" dirty="0"/>
          </a:p>
        </p:txBody>
      </p:sp>
      <p:sp>
        <p:nvSpPr>
          <p:cNvPr id="7" name="Text 5"/>
          <p:cNvSpPr/>
          <p:nvPr/>
        </p:nvSpPr>
        <p:spPr>
          <a:xfrm>
            <a:off x="822960" y="6327648"/>
            <a:ext cx="5486400" cy="32004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maherbekdash05@gmail.com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What this presentation covers</a:t>
            </a:r>
            <a:endParaRPr lang="en-US" sz="3200" dirty="0"/>
          </a:p>
        </p:txBody>
      </p:sp>
      <p:sp>
        <p:nvSpPr>
          <p:cNvPr id="4" name="Shape 2"/>
          <p:cNvSpPr/>
          <p:nvPr/>
        </p:nvSpPr>
        <p:spPr>
          <a:xfrm>
            <a:off x="548640" y="1737360"/>
            <a:ext cx="5349240" cy="1188720"/>
          </a:xfrm>
          <a:prstGeom prst="roundRect">
            <a:avLst>
              <a:gd name="adj" fmla="val 6154"/>
            </a:avLst>
          </a:prstGeom>
          <a:solidFill>
            <a:srgbClr val="EAF0EE"/>
          </a:solidFill>
          <a:ln/>
          <a:effectLst>
            <a:outerShdw sx="100000" sy="100000" kx="0" ky="0" algn="bl" rotWithShape="0" blurRad="76200" dist="25400" dir="5400000">
              <a:srgbClr val="999999">
                <a:alpha val="18000"/>
              </a:srgbClr>
            </a:outerShdw>
          </a:effectLst>
        </p:spPr>
      </p:sp>
      <p:sp>
        <p:nvSpPr>
          <p:cNvPr id="5" name="Text 3"/>
          <p:cNvSpPr/>
          <p:nvPr/>
        </p:nvSpPr>
        <p:spPr>
          <a:xfrm>
            <a:off x="777240" y="1901952"/>
            <a:ext cx="914400" cy="822960"/>
          </a:xfrm>
          <a:prstGeom prst="rect">
            <a:avLst/>
          </a:prstGeom>
          <a:noFill/>
          <a:ln/>
        </p:spPr>
        <p:txBody>
          <a:bodyPr wrap="square" lIns="0" tIns="0" rIns="0" bIns="0" rtlCol="0" anchor="ctr"/>
          <a:lstStyle/>
          <a:p>
            <a:pPr indent="0" marL="0">
              <a:buNone/>
            </a:pPr>
            <a:r>
              <a:rPr lang="en-US" sz="3000" b="1" dirty="0">
                <a:solidFill>
                  <a:srgbClr val="C8102E"/>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1645920" y="1901952"/>
            <a:ext cx="4069080" cy="36576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The problem</a:t>
            </a:r>
            <a:endParaRPr lang="en-US" sz="1500" dirty="0"/>
          </a:p>
        </p:txBody>
      </p:sp>
      <p:sp>
        <p:nvSpPr>
          <p:cNvPr id="7" name="Text 5"/>
          <p:cNvSpPr/>
          <p:nvPr/>
        </p:nvSpPr>
        <p:spPr>
          <a:xfrm>
            <a:off x="1645920" y="2267712"/>
            <a:ext cx="4069080" cy="548640"/>
          </a:xfrm>
          <a:prstGeom prst="rect">
            <a:avLst/>
          </a:prstGeom>
          <a:noFill/>
          <a:ln/>
        </p:spPr>
        <p:txBody>
          <a:bodyPr wrap="square" lIns="0" tIns="0" rIns="0" bIns="0" rtlCol="0" anchor="ctr"/>
          <a:lstStyle/>
          <a:p>
            <a:pPr indent="0" marL="0">
              <a:buNone/>
            </a:pPr>
            <a:r>
              <a:rPr lang="en-US" sz="1100" dirty="0">
                <a:solidFill>
                  <a:srgbClr val="5B6B6B"/>
                </a:solidFill>
                <a:latin typeface="Calibri" pitchFamily="34" charset="0"/>
                <a:ea typeface="Calibri" pitchFamily="34" charset="-122"/>
                <a:cs typeface="Calibri" pitchFamily="34" charset="-120"/>
              </a:rPr>
              <a:t>Why Lebanon's transport system needed this project</a:t>
            </a:r>
            <a:endParaRPr lang="en-US" sz="1100" dirty="0"/>
          </a:p>
        </p:txBody>
      </p:sp>
      <p:sp>
        <p:nvSpPr>
          <p:cNvPr id="8" name="Shape 6"/>
          <p:cNvSpPr/>
          <p:nvPr/>
        </p:nvSpPr>
        <p:spPr>
          <a:xfrm>
            <a:off x="6172200" y="1737360"/>
            <a:ext cx="5349240" cy="1188720"/>
          </a:xfrm>
          <a:prstGeom prst="roundRect">
            <a:avLst>
              <a:gd name="adj" fmla="val 6154"/>
            </a:avLst>
          </a:prstGeom>
          <a:solidFill>
            <a:srgbClr val="EAF0EE"/>
          </a:solidFill>
          <a:ln/>
          <a:effectLst>
            <a:outerShdw sx="100000" sy="100000" kx="0" ky="0" algn="bl" rotWithShape="0" blurRad="76200" dist="25400" dir="5400000">
              <a:srgbClr val="999999">
                <a:alpha val="18000"/>
              </a:srgbClr>
            </a:outerShdw>
          </a:effectLst>
        </p:spPr>
      </p:sp>
      <p:sp>
        <p:nvSpPr>
          <p:cNvPr id="9" name="Text 7"/>
          <p:cNvSpPr/>
          <p:nvPr/>
        </p:nvSpPr>
        <p:spPr>
          <a:xfrm>
            <a:off x="6400800" y="1901952"/>
            <a:ext cx="914400" cy="822960"/>
          </a:xfrm>
          <a:prstGeom prst="rect">
            <a:avLst/>
          </a:prstGeom>
          <a:noFill/>
          <a:ln/>
        </p:spPr>
        <p:txBody>
          <a:bodyPr wrap="square" lIns="0" tIns="0" rIns="0" bIns="0" rtlCol="0" anchor="ctr"/>
          <a:lstStyle/>
          <a:p>
            <a:pPr indent="0" marL="0">
              <a:buNone/>
            </a:pPr>
            <a:r>
              <a:rPr lang="en-US" sz="3000" b="1" dirty="0">
                <a:solidFill>
                  <a:srgbClr val="C8102E"/>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7269480" y="1901952"/>
            <a:ext cx="4069080" cy="36576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Evolution of thought</a:t>
            </a:r>
            <a:endParaRPr lang="en-US" sz="1500" dirty="0"/>
          </a:p>
        </p:txBody>
      </p:sp>
      <p:sp>
        <p:nvSpPr>
          <p:cNvPr id="11" name="Text 9"/>
          <p:cNvSpPr/>
          <p:nvPr/>
        </p:nvSpPr>
        <p:spPr>
          <a:xfrm>
            <a:off x="7269480" y="2267712"/>
            <a:ext cx="4069080" cy="548640"/>
          </a:xfrm>
          <a:prstGeom prst="rect">
            <a:avLst/>
          </a:prstGeom>
          <a:noFill/>
          <a:ln/>
        </p:spPr>
        <p:txBody>
          <a:bodyPr wrap="square" lIns="0" tIns="0" rIns="0" bIns="0" rtlCol="0" anchor="ctr"/>
          <a:lstStyle/>
          <a:p>
            <a:pPr indent="0" marL="0">
              <a:buNone/>
            </a:pPr>
            <a:r>
              <a:rPr lang="en-US" sz="1100" dirty="0">
                <a:solidFill>
                  <a:srgbClr val="5B6B6B"/>
                </a:solidFill>
                <a:latin typeface="Calibri" pitchFamily="34" charset="0"/>
                <a:ea typeface="Calibri" pitchFamily="34" charset="-122"/>
                <a:cs typeface="Calibri" pitchFamily="34" charset="-120"/>
              </a:rPr>
              <a:t>How the project's scope changed three times, and why</a:t>
            </a:r>
            <a:endParaRPr lang="en-US" sz="1100" dirty="0"/>
          </a:p>
        </p:txBody>
      </p:sp>
      <p:sp>
        <p:nvSpPr>
          <p:cNvPr id="12" name="Shape 10"/>
          <p:cNvSpPr/>
          <p:nvPr/>
        </p:nvSpPr>
        <p:spPr>
          <a:xfrm>
            <a:off x="548640" y="3154680"/>
            <a:ext cx="5349240" cy="1188720"/>
          </a:xfrm>
          <a:prstGeom prst="roundRect">
            <a:avLst>
              <a:gd name="adj" fmla="val 6154"/>
            </a:avLst>
          </a:prstGeom>
          <a:solidFill>
            <a:srgbClr val="EAF0EE"/>
          </a:solidFill>
          <a:ln/>
          <a:effectLst>
            <a:outerShdw sx="100000" sy="100000" kx="0" ky="0" algn="bl" rotWithShape="0" blurRad="76200" dist="25400" dir="5400000">
              <a:srgbClr val="999999">
                <a:alpha val="18000"/>
              </a:srgbClr>
            </a:outerShdw>
          </a:effectLst>
        </p:spPr>
      </p:sp>
      <p:sp>
        <p:nvSpPr>
          <p:cNvPr id="13" name="Text 11"/>
          <p:cNvSpPr/>
          <p:nvPr/>
        </p:nvSpPr>
        <p:spPr>
          <a:xfrm>
            <a:off x="777240" y="3319272"/>
            <a:ext cx="914400" cy="822960"/>
          </a:xfrm>
          <a:prstGeom prst="rect">
            <a:avLst/>
          </a:prstGeom>
          <a:noFill/>
          <a:ln/>
        </p:spPr>
        <p:txBody>
          <a:bodyPr wrap="square" lIns="0" tIns="0" rIns="0" bIns="0" rtlCol="0" anchor="ctr"/>
          <a:lstStyle/>
          <a:p>
            <a:pPr indent="0" marL="0">
              <a:buNone/>
            </a:pPr>
            <a:r>
              <a:rPr lang="en-US" sz="3000" b="1" dirty="0">
                <a:solidFill>
                  <a:srgbClr val="C8102E"/>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1645920" y="3319272"/>
            <a:ext cx="4069080" cy="36576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Methodology</a:t>
            </a:r>
            <a:endParaRPr lang="en-US" sz="1500" dirty="0"/>
          </a:p>
        </p:txBody>
      </p:sp>
      <p:sp>
        <p:nvSpPr>
          <p:cNvPr id="15" name="Text 13"/>
          <p:cNvSpPr/>
          <p:nvPr/>
        </p:nvSpPr>
        <p:spPr>
          <a:xfrm>
            <a:off x="1645920" y="3685032"/>
            <a:ext cx="4069080" cy="548640"/>
          </a:xfrm>
          <a:prstGeom prst="rect">
            <a:avLst/>
          </a:prstGeom>
          <a:noFill/>
          <a:ln/>
        </p:spPr>
        <p:txBody>
          <a:bodyPr wrap="square" lIns="0" tIns="0" rIns="0" bIns="0" rtlCol="0" anchor="ctr"/>
          <a:lstStyle/>
          <a:p>
            <a:pPr indent="0" marL="0">
              <a:buNone/>
            </a:pPr>
            <a:r>
              <a:rPr lang="en-US" sz="1100" dirty="0">
                <a:solidFill>
                  <a:srgbClr val="5B6B6B"/>
                </a:solidFill>
                <a:latin typeface="Calibri" pitchFamily="34" charset="0"/>
                <a:ea typeface="Calibri" pitchFamily="34" charset="-122"/>
                <a:cs typeface="Calibri" pitchFamily="34" charset="-120"/>
              </a:rPr>
              <a:t>Two layers: an AI-designed simulated pilot, and a national vision</a:t>
            </a:r>
            <a:endParaRPr lang="en-US" sz="1100" dirty="0"/>
          </a:p>
        </p:txBody>
      </p:sp>
      <p:sp>
        <p:nvSpPr>
          <p:cNvPr id="16" name="Shape 14"/>
          <p:cNvSpPr/>
          <p:nvPr/>
        </p:nvSpPr>
        <p:spPr>
          <a:xfrm>
            <a:off x="6172200" y="3154680"/>
            <a:ext cx="5349240" cy="1188720"/>
          </a:xfrm>
          <a:prstGeom prst="roundRect">
            <a:avLst>
              <a:gd name="adj" fmla="val 6154"/>
            </a:avLst>
          </a:prstGeom>
          <a:solidFill>
            <a:srgbClr val="EAF0EE"/>
          </a:solidFill>
          <a:ln/>
          <a:effectLst>
            <a:outerShdw sx="100000" sy="100000" kx="0" ky="0" algn="bl" rotWithShape="0" blurRad="76200" dist="25400" dir="5400000">
              <a:srgbClr val="999999">
                <a:alpha val="18000"/>
              </a:srgbClr>
            </a:outerShdw>
          </a:effectLst>
        </p:spPr>
      </p:sp>
      <p:sp>
        <p:nvSpPr>
          <p:cNvPr id="17" name="Text 15"/>
          <p:cNvSpPr/>
          <p:nvPr/>
        </p:nvSpPr>
        <p:spPr>
          <a:xfrm>
            <a:off x="6400800" y="3319272"/>
            <a:ext cx="914400" cy="822960"/>
          </a:xfrm>
          <a:prstGeom prst="rect">
            <a:avLst/>
          </a:prstGeom>
          <a:noFill/>
          <a:ln/>
        </p:spPr>
        <p:txBody>
          <a:bodyPr wrap="square" lIns="0" tIns="0" rIns="0" bIns="0" rtlCol="0" anchor="ctr"/>
          <a:lstStyle/>
          <a:p>
            <a:pPr indent="0" marL="0">
              <a:buNone/>
            </a:pPr>
            <a:r>
              <a:rPr lang="en-US" sz="3000" b="1" dirty="0">
                <a:solidFill>
                  <a:srgbClr val="C8102E"/>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7269480" y="3319272"/>
            <a:ext cx="4069080" cy="36576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Real results</a:t>
            </a:r>
            <a:endParaRPr lang="en-US" sz="1500" dirty="0"/>
          </a:p>
        </p:txBody>
      </p:sp>
      <p:sp>
        <p:nvSpPr>
          <p:cNvPr id="19" name="Text 17"/>
          <p:cNvSpPr/>
          <p:nvPr/>
        </p:nvSpPr>
        <p:spPr>
          <a:xfrm>
            <a:off x="7269480" y="3685032"/>
            <a:ext cx="4069080" cy="548640"/>
          </a:xfrm>
          <a:prstGeom prst="rect">
            <a:avLst/>
          </a:prstGeom>
          <a:noFill/>
          <a:ln/>
        </p:spPr>
        <p:txBody>
          <a:bodyPr wrap="square" lIns="0" tIns="0" rIns="0" bIns="0" rtlCol="0" anchor="ctr"/>
          <a:lstStyle/>
          <a:p>
            <a:pPr indent="0" marL="0">
              <a:buNone/>
            </a:pPr>
            <a:r>
              <a:rPr lang="en-US" sz="1100" dirty="0">
                <a:solidFill>
                  <a:srgbClr val="5B6B6B"/>
                </a:solidFill>
                <a:latin typeface="Calibri" pitchFamily="34" charset="0"/>
                <a:ea typeface="Calibri" pitchFamily="34" charset="-122"/>
                <a:cs typeface="Calibri" pitchFamily="34" charset="-120"/>
              </a:rPr>
              <a:t>Coverage, simulation, and centrality numbers — all from real code runs</a:t>
            </a:r>
            <a:endParaRPr lang="en-US" sz="1100" dirty="0"/>
          </a:p>
        </p:txBody>
      </p:sp>
      <p:sp>
        <p:nvSpPr>
          <p:cNvPr id="20" name="Shape 18"/>
          <p:cNvSpPr/>
          <p:nvPr/>
        </p:nvSpPr>
        <p:spPr>
          <a:xfrm>
            <a:off x="548640" y="4572000"/>
            <a:ext cx="5349240" cy="1188720"/>
          </a:xfrm>
          <a:prstGeom prst="roundRect">
            <a:avLst>
              <a:gd name="adj" fmla="val 6154"/>
            </a:avLst>
          </a:prstGeom>
          <a:solidFill>
            <a:srgbClr val="EAF0EE"/>
          </a:solidFill>
          <a:ln/>
          <a:effectLst>
            <a:outerShdw sx="100000" sy="100000" kx="0" ky="0" algn="bl" rotWithShape="0" blurRad="76200" dist="25400" dir="5400000">
              <a:srgbClr val="999999">
                <a:alpha val="18000"/>
              </a:srgbClr>
            </a:outerShdw>
          </a:effectLst>
        </p:spPr>
      </p:sp>
      <p:sp>
        <p:nvSpPr>
          <p:cNvPr id="21" name="Text 19"/>
          <p:cNvSpPr/>
          <p:nvPr/>
        </p:nvSpPr>
        <p:spPr>
          <a:xfrm>
            <a:off x="777240" y="4736592"/>
            <a:ext cx="914400" cy="822960"/>
          </a:xfrm>
          <a:prstGeom prst="rect">
            <a:avLst/>
          </a:prstGeom>
          <a:noFill/>
          <a:ln/>
        </p:spPr>
        <p:txBody>
          <a:bodyPr wrap="square" lIns="0" tIns="0" rIns="0" bIns="0" rtlCol="0" anchor="ctr"/>
          <a:lstStyle/>
          <a:p>
            <a:pPr indent="0" marL="0">
              <a:buNone/>
            </a:pPr>
            <a:r>
              <a:rPr lang="en-US" sz="3000" b="1" dirty="0">
                <a:solidFill>
                  <a:srgbClr val="C8102E"/>
                </a:solidFill>
                <a:latin typeface="Cambria" pitchFamily="34" charset="0"/>
                <a:ea typeface="Cambria" pitchFamily="34" charset="-122"/>
                <a:cs typeface="Cambria" pitchFamily="34" charset="-120"/>
              </a:rPr>
              <a:t>05</a:t>
            </a:r>
            <a:endParaRPr lang="en-US" sz="3000" dirty="0"/>
          </a:p>
        </p:txBody>
      </p:sp>
      <p:sp>
        <p:nvSpPr>
          <p:cNvPr id="22" name="Text 20"/>
          <p:cNvSpPr/>
          <p:nvPr/>
        </p:nvSpPr>
        <p:spPr>
          <a:xfrm>
            <a:off x="1645920" y="4736592"/>
            <a:ext cx="4069080" cy="36576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Contributions &amp; limits</a:t>
            </a:r>
            <a:endParaRPr lang="en-US" sz="1500" dirty="0"/>
          </a:p>
        </p:txBody>
      </p:sp>
      <p:sp>
        <p:nvSpPr>
          <p:cNvPr id="23" name="Text 21"/>
          <p:cNvSpPr/>
          <p:nvPr/>
        </p:nvSpPr>
        <p:spPr>
          <a:xfrm>
            <a:off x="1645920" y="5102352"/>
            <a:ext cx="4069080" cy="548640"/>
          </a:xfrm>
          <a:prstGeom prst="rect">
            <a:avLst/>
          </a:prstGeom>
          <a:noFill/>
          <a:ln/>
        </p:spPr>
        <p:txBody>
          <a:bodyPr wrap="square" lIns="0" tIns="0" rIns="0" bIns="0" rtlCol="0" anchor="ctr"/>
          <a:lstStyle/>
          <a:p>
            <a:pPr indent="0" marL="0">
              <a:buNone/>
            </a:pPr>
            <a:r>
              <a:rPr lang="en-US" sz="1100" dirty="0">
                <a:solidFill>
                  <a:srgbClr val="5B6B6B"/>
                </a:solidFill>
                <a:latin typeface="Calibri" pitchFamily="34" charset="0"/>
                <a:ea typeface="Calibri" pitchFamily="34" charset="-122"/>
                <a:cs typeface="Calibri" pitchFamily="34" charset="-120"/>
              </a:rPr>
              <a:t>What's genuinely novel, and what we're not claiming</a:t>
            </a:r>
            <a:endParaRPr lang="en-US" sz="1100" dirty="0"/>
          </a:p>
        </p:txBody>
      </p:sp>
      <p:sp>
        <p:nvSpPr>
          <p:cNvPr id="24" name="Shape 22"/>
          <p:cNvSpPr/>
          <p:nvPr/>
        </p:nvSpPr>
        <p:spPr>
          <a:xfrm>
            <a:off x="6172200" y="4572000"/>
            <a:ext cx="5349240" cy="1188720"/>
          </a:xfrm>
          <a:prstGeom prst="roundRect">
            <a:avLst>
              <a:gd name="adj" fmla="val 6154"/>
            </a:avLst>
          </a:prstGeom>
          <a:solidFill>
            <a:srgbClr val="EAF0EE"/>
          </a:solidFill>
          <a:ln/>
          <a:effectLst>
            <a:outerShdw sx="100000" sy="100000" kx="0" ky="0" algn="bl" rotWithShape="0" blurRad="76200" dist="25400" dir="5400000">
              <a:srgbClr val="999999">
                <a:alpha val="18000"/>
              </a:srgbClr>
            </a:outerShdw>
          </a:effectLst>
        </p:spPr>
      </p:sp>
      <p:sp>
        <p:nvSpPr>
          <p:cNvPr id="25" name="Text 23"/>
          <p:cNvSpPr/>
          <p:nvPr/>
        </p:nvSpPr>
        <p:spPr>
          <a:xfrm>
            <a:off x="6400800" y="4736592"/>
            <a:ext cx="914400" cy="822960"/>
          </a:xfrm>
          <a:prstGeom prst="rect">
            <a:avLst/>
          </a:prstGeom>
          <a:noFill/>
          <a:ln/>
        </p:spPr>
        <p:txBody>
          <a:bodyPr wrap="square" lIns="0" tIns="0" rIns="0" bIns="0" rtlCol="0" anchor="ctr"/>
          <a:lstStyle/>
          <a:p>
            <a:pPr indent="0" marL="0">
              <a:buNone/>
            </a:pPr>
            <a:r>
              <a:rPr lang="en-US" sz="3000" b="1" dirty="0">
                <a:solidFill>
                  <a:srgbClr val="C8102E"/>
                </a:solidFill>
                <a:latin typeface="Cambria" pitchFamily="34" charset="0"/>
                <a:ea typeface="Cambria" pitchFamily="34" charset="-122"/>
                <a:cs typeface="Cambria" pitchFamily="34" charset="-120"/>
              </a:rPr>
              <a:t>06</a:t>
            </a:r>
            <a:endParaRPr lang="en-US" sz="3000" dirty="0"/>
          </a:p>
        </p:txBody>
      </p:sp>
      <p:sp>
        <p:nvSpPr>
          <p:cNvPr id="26" name="Text 24"/>
          <p:cNvSpPr/>
          <p:nvPr/>
        </p:nvSpPr>
        <p:spPr>
          <a:xfrm>
            <a:off x="7269480" y="4736592"/>
            <a:ext cx="4069080" cy="36576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Action plan &amp; reflection</a:t>
            </a:r>
            <a:endParaRPr lang="en-US" sz="1500" dirty="0"/>
          </a:p>
        </p:txBody>
      </p:sp>
      <p:sp>
        <p:nvSpPr>
          <p:cNvPr id="27" name="Text 25"/>
          <p:cNvSpPr/>
          <p:nvPr/>
        </p:nvSpPr>
        <p:spPr>
          <a:xfrm>
            <a:off x="7269480" y="5102352"/>
            <a:ext cx="4069080" cy="548640"/>
          </a:xfrm>
          <a:prstGeom prst="rect">
            <a:avLst/>
          </a:prstGeom>
          <a:noFill/>
          <a:ln/>
        </p:spPr>
        <p:txBody>
          <a:bodyPr wrap="square" lIns="0" tIns="0" rIns="0" bIns="0" rtlCol="0" anchor="ctr"/>
          <a:lstStyle/>
          <a:p>
            <a:pPr indent="0" marL="0">
              <a:buNone/>
            </a:pPr>
            <a:r>
              <a:rPr lang="en-US" sz="1100" dirty="0">
                <a:solidFill>
                  <a:srgbClr val="5B6B6B"/>
                </a:solidFill>
                <a:latin typeface="Calibri" pitchFamily="34" charset="0"/>
                <a:ea typeface="Calibri" pitchFamily="34" charset="-122"/>
                <a:cs typeface="Calibri" pitchFamily="34" charset="-120"/>
              </a:rPr>
              <a:t>Where this goes next, and what the process taught me</a:t>
            </a:r>
            <a:endParaRPr lang="en-US" sz="1100" dirty="0"/>
          </a:p>
        </p:txBody>
      </p:sp>
      <p:sp>
        <p:nvSpPr>
          <p:cNvPr id="28" name="Text 26"/>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PROBLEM DEFINITION</a:t>
            </a:r>
            <a:endParaRPr lang="en-US" sz="13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Lebanon runs on private cars — because nothing else works well enough</a:t>
            </a:r>
            <a:endParaRPr lang="en-US" sz="3200" dirty="0"/>
          </a:p>
        </p:txBody>
      </p:sp>
      <p:sp>
        <p:nvSpPr>
          <p:cNvPr id="4" name="Shape 2"/>
          <p:cNvSpPr/>
          <p:nvPr/>
        </p:nvSpPr>
        <p:spPr>
          <a:xfrm>
            <a:off x="548640" y="1783080"/>
            <a:ext cx="2651760" cy="1920240"/>
          </a:xfrm>
          <a:prstGeom prst="roundRect">
            <a:avLst>
              <a:gd name="adj" fmla="val 3810"/>
            </a:avLst>
          </a:prstGeom>
          <a:solidFill>
            <a:srgbClr val="EAF0EE"/>
          </a:solidFill>
          <a:ln/>
          <a:effectLst>
            <a:outerShdw sx="100000" sy="100000" kx="0" ky="0" algn="bl" rotWithShape="0" blurRad="76200" dist="25400" dir="5400000">
              <a:srgbClr val="999999">
                <a:alpha val="18000"/>
              </a:srgbClr>
            </a:outerShdw>
          </a:effectLst>
        </p:spPr>
      </p:sp>
      <p:sp>
        <p:nvSpPr>
          <p:cNvPr id="5" name="Text 3"/>
          <p:cNvSpPr/>
          <p:nvPr/>
        </p:nvSpPr>
        <p:spPr>
          <a:xfrm>
            <a:off x="548640" y="1965960"/>
            <a:ext cx="2651760" cy="822960"/>
          </a:xfrm>
          <a:prstGeom prst="rect">
            <a:avLst/>
          </a:prstGeom>
          <a:noFill/>
          <a:ln/>
        </p:spPr>
        <p:txBody>
          <a:bodyPr wrap="square" lIns="0" tIns="0" rIns="0" bIns="0" rtlCol="0" anchor="ctr"/>
          <a:lstStyle/>
          <a:p>
            <a:pPr algn="ctr" indent="0" marL="0">
              <a:buNone/>
            </a:pPr>
            <a:r>
              <a:rPr lang="en-US" sz="3800" b="1" dirty="0">
                <a:solidFill>
                  <a:srgbClr val="C8102E"/>
                </a:solidFill>
                <a:latin typeface="Cambria" pitchFamily="34" charset="0"/>
                <a:ea typeface="Cambria" pitchFamily="34" charset="-122"/>
                <a:cs typeface="Cambria" pitchFamily="34" charset="-120"/>
              </a:rPr>
              <a:t>650,000</a:t>
            </a:r>
            <a:endParaRPr lang="en-US" sz="3800" dirty="0"/>
          </a:p>
        </p:txBody>
      </p:sp>
      <p:sp>
        <p:nvSpPr>
          <p:cNvPr id="6" name="Text 4"/>
          <p:cNvSpPr/>
          <p:nvPr/>
        </p:nvSpPr>
        <p:spPr>
          <a:xfrm>
            <a:off x="548640" y="2743200"/>
            <a:ext cx="2651760" cy="914400"/>
          </a:xfrm>
          <a:prstGeom prst="rect">
            <a:avLst/>
          </a:prstGeom>
          <a:noFill/>
          <a:ln/>
        </p:spPr>
        <p:txBody>
          <a:bodyPr wrap="square" lIns="0" tIns="0" rIns="0" bIns="0" rtlCol="0" anchor="ctr"/>
          <a:lstStyle/>
          <a:p>
            <a:pPr algn="ctr" indent="0" marL="0">
              <a:buNone/>
            </a:pPr>
            <a:r>
              <a:rPr lang="en-US" sz="1200" dirty="0">
                <a:solidFill>
                  <a:srgbClr val="5B6B6B"/>
                </a:solidFill>
                <a:latin typeface="Calibri" pitchFamily="34" charset="0"/>
                <a:ea typeface="Calibri" pitchFamily="34" charset="-122"/>
                <a:cs typeface="Calibri" pitchFamily="34" charset="-120"/>
              </a:rPr>
              <a:t>vehicles enter the Greater</a:t>
            </a:r>
            <a:endParaRPr lang="en-US" sz="1200" dirty="0"/>
          </a:p>
          <a:p>
            <a:pPr algn="ctr" indent="0" marL="0">
              <a:buNone/>
            </a:pPr>
            <a:r>
              <a:rPr lang="en-US" sz="1200" dirty="0">
                <a:solidFill>
                  <a:srgbClr val="5B6B6B"/>
                </a:solidFill>
                <a:latin typeface="Calibri" pitchFamily="34" charset="0"/>
                <a:ea typeface="Calibri" pitchFamily="34" charset="-122"/>
                <a:cs typeface="Calibri" pitchFamily="34" charset="-120"/>
              </a:rPr>
              <a:t>Beirut Area every day</a:t>
            </a:r>
            <a:endParaRPr lang="en-US" sz="1200" dirty="0"/>
          </a:p>
        </p:txBody>
      </p:sp>
      <p:sp>
        <p:nvSpPr>
          <p:cNvPr id="7" name="Shape 5"/>
          <p:cNvSpPr/>
          <p:nvPr/>
        </p:nvSpPr>
        <p:spPr>
          <a:xfrm>
            <a:off x="3337560" y="1783080"/>
            <a:ext cx="2651760" cy="1920240"/>
          </a:xfrm>
          <a:prstGeom prst="roundRect">
            <a:avLst>
              <a:gd name="adj" fmla="val 3810"/>
            </a:avLst>
          </a:prstGeom>
          <a:solidFill>
            <a:srgbClr val="EAF0EE"/>
          </a:solidFill>
          <a:ln/>
          <a:effectLst>
            <a:outerShdw sx="100000" sy="100000" kx="0" ky="0" algn="bl" rotWithShape="0" blurRad="76200" dist="25400" dir="5400000">
              <a:srgbClr val="999999">
                <a:alpha val="18000"/>
              </a:srgbClr>
            </a:outerShdw>
          </a:effectLst>
        </p:spPr>
      </p:sp>
      <p:sp>
        <p:nvSpPr>
          <p:cNvPr id="8" name="Text 6"/>
          <p:cNvSpPr/>
          <p:nvPr/>
        </p:nvSpPr>
        <p:spPr>
          <a:xfrm>
            <a:off x="3337560" y="1965960"/>
            <a:ext cx="2651760" cy="822960"/>
          </a:xfrm>
          <a:prstGeom prst="rect">
            <a:avLst/>
          </a:prstGeom>
          <a:noFill/>
          <a:ln/>
        </p:spPr>
        <p:txBody>
          <a:bodyPr wrap="square" lIns="0" tIns="0" rIns="0" bIns="0" rtlCol="0" anchor="ctr"/>
          <a:lstStyle/>
          <a:p>
            <a:pPr algn="ctr" indent="0" marL="0">
              <a:buNone/>
            </a:pPr>
            <a:r>
              <a:rPr lang="en-US" sz="3800" b="1" dirty="0">
                <a:solidFill>
                  <a:srgbClr val="C8102E"/>
                </a:solidFill>
                <a:latin typeface="Cambria" pitchFamily="34" charset="0"/>
                <a:ea typeface="Cambria" pitchFamily="34" charset="-122"/>
                <a:cs typeface="Cambria" pitchFamily="34" charset="-120"/>
              </a:rPr>
              <a:t>5%</a:t>
            </a:r>
            <a:endParaRPr lang="en-US" sz="3800" dirty="0"/>
          </a:p>
        </p:txBody>
      </p:sp>
      <p:sp>
        <p:nvSpPr>
          <p:cNvPr id="9" name="Text 7"/>
          <p:cNvSpPr/>
          <p:nvPr/>
        </p:nvSpPr>
        <p:spPr>
          <a:xfrm>
            <a:off x="3337560" y="2743200"/>
            <a:ext cx="2651760" cy="914400"/>
          </a:xfrm>
          <a:prstGeom prst="rect">
            <a:avLst/>
          </a:prstGeom>
          <a:noFill/>
          <a:ln/>
        </p:spPr>
        <p:txBody>
          <a:bodyPr wrap="square" lIns="0" tIns="0" rIns="0" bIns="0" rtlCol="0" anchor="ctr"/>
          <a:lstStyle/>
          <a:p>
            <a:pPr algn="ctr" indent="0" marL="0">
              <a:buNone/>
            </a:pPr>
            <a:r>
              <a:rPr lang="en-US" sz="1200" dirty="0">
                <a:solidFill>
                  <a:srgbClr val="5B6B6B"/>
                </a:solidFill>
                <a:latin typeface="Calibri" pitchFamily="34" charset="0"/>
                <a:ea typeface="Calibri" pitchFamily="34" charset="-122"/>
                <a:cs typeface="Calibri" pitchFamily="34" charset="-120"/>
              </a:rPr>
              <a:t>of Lebanon's GDP lost</a:t>
            </a:r>
            <a:endParaRPr lang="en-US" sz="1200" dirty="0"/>
          </a:p>
          <a:p>
            <a:pPr algn="ctr" indent="0" marL="0">
              <a:buNone/>
            </a:pPr>
            <a:r>
              <a:rPr lang="en-US" sz="1200" dirty="0">
                <a:solidFill>
                  <a:srgbClr val="5B6B6B"/>
                </a:solidFill>
                <a:latin typeface="Calibri" pitchFamily="34" charset="0"/>
                <a:ea typeface="Calibri" pitchFamily="34" charset="-122"/>
                <a:cs typeface="Calibri" pitchFamily="34" charset="-120"/>
              </a:rPr>
              <a:t>to congestion (World Bank)</a:t>
            </a:r>
            <a:endParaRPr lang="en-US" sz="1200" dirty="0"/>
          </a:p>
        </p:txBody>
      </p:sp>
      <p:sp>
        <p:nvSpPr>
          <p:cNvPr id="10" name="Shape 8"/>
          <p:cNvSpPr/>
          <p:nvPr/>
        </p:nvSpPr>
        <p:spPr>
          <a:xfrm>
            <a:off x="6126480" y="1783080"/>
            <a:ext cx="2651760" cy="1920240"/>
          </a:xfrm>
          <a:prstGeom prst="roundRect">
            <a:avLst>
              <a:gd name="adj" fmla="val 3810"/>
            </a:avLst>
          </a:prstGeom>
          <a:solidFill>
            <a:srgbClr val="EAF0EE"/>
          </a:solidFill>
          <a:ln/>
          <a:effectLst>
            <a:outerShdw sx="100000" sy="100000" kx="0" ky="0" algn="bl" rotWithShape="0" blurRad="76200" dist="25400" dir="5400000">
              <a:srgbClr val="999999">
                <a:alpha val="18000"/>
              </a:srgbClr>
            </a:outerShdw>
          </a:effectLst>
        </p:spPr>
      </p:sp>
      <p:sp>
        <p:nvSpPr>
          <p:cNvPr id="11" name="Text 9"/>
          <p:cNvSpPr/>
          <p:nvPr/>
        </p:nvSpPr>
        <p:spPr>
          <a:xfrm>
            <a:off x="6126480" y="1965960"/>
            <a:ext cx="2651760" cy="822960"/>
          </a:xfrm>
          <a:prstGeom prst="rect">
            <a:avLst/>
          </a:prstGeom>
          <a:noFill/>
          <a:ln/>
        </p:spPr>
        <p:txBody>
          <a:bodyPr wrap="square" lIns="0" tIns="0" rIns="0" bIns="0" rtlCol="0" anchor="ctr"/>
          <a:lstStyle/>
          <a:p>
            <a:pPr algn="ctr" indent="0" marL="0">
              <a:buNone/>
            </a:pPr>
            <a:r>
              <a:rPr lang="en-US" sz="3800" b="1" dirty="0">
                <a:solidFill>
                  <a:srgbClr val="C8102E"/>
                </a:solidFill>
                <a:latin typeface="Cambria" pitchFamily="34" charset="0"/>
                <a:ea typeface="Cambria" pitchFamily="34" charset="-122"/>
                <a:cs typeface="Cambria" pitchFamily="34" charset="-120"/>
              </a:rPr>
              <a:t>92.2%</a:t>
            </a:r>
            <a:endParaRPr lang="en-US" sz="3800" dirty="0"/>
          </a:p>
        </p:txBody>
      </p:sp>
      <p:sp>
        <p:nvSpPr>
          <p:cNvPr id="12" name="Text 10"/>
          <p:cNvSpPr/>
          <p:nvPr/>
        </p:nvSpPr>
        <p:spPr>
          <a:xfrm>
            <a:off x="6126480" y="2743200"/>
            <a:ext cx="2651760" cy="914400"/>
          </a:xfrm>
          <a:prstGeom prst="rect">
            <a:avLst/>
          </a:prstGeom>
          <a:noFill/>
          <a:ln/>
        </p:spPr>
        <p:txBody>
          <a:bodyPr wrap="square" lIns="0" tIns="0" rIns="0" bIns="0" rtlCol="0" anchor="ctr"/>
          <a:lstStyle/>
          <a:p>
            <a:pPr algn="ctr" indent="0" marL="0">
              <a:buNone/>
            </a:pPr>
            <a:r>
              <a:rPr lang="en-US" sz="1200" dirty="0">
                <a:solidFill>
                  <a:srgbClr val="5B6B6B"/>
                </a:solidFill>
                <a:latin typeface="Calibri" pitchFamily="34" charset="0"/>
                <a:ea typeface="Calibri" pitchFamily="34" charset="-122"/>
                <a:cs typeface="Calibri" pitchFamily="34" charset="-120"/>
              </a:rPr>
              <a:t>walk-accessibility today —</a:t>
            </a:r>
            <a:endParaRPr lang="en-US" sz="1200" dirty="0"/>
          </a:p>
          <a:p>
            <a:pPr algn="ctr" indent="0" marL="0">
              <a:buNone/>
            </a:pPr>
            <a:r>
              <a:rPr lang="en-US" sz="1200" dirty="0">
                <a:solidFill>
                  <a:srgbClr val="5B6B6B"/>
                </a:solidFill>
                <a:latin typeface="Calibri" pitchFamily="34" charset="0"/>
                <a:ea typeface="Calibri" pitchFamily="34" charset="-122"/>
                <a:cs typeface="Calibri" pitchFamily="34" charset="-120"/>
              </a:rPr>
              <a:t>sounds high, but ~235k people</a:t>
            </a:r>
            <a:endParaRPr lang="en-US" sz="1200" dirty="0"/>
          </a:p>
          <a:p>
            <a:pPr algn="ctr" indent="0" marL="0">
              <a:buNone/>
            </a:pPr>
            <a:r>
              <a:rPr lang="en-US" sz="1200" dirty="0">
                <a:solidFill>
                  <a:srgbClr val="5B6B6B"/>
                </a:solidFill>
                <a:latin typeface="Calibri" pitchFamily="34" charset="0"/>
                <a:ea typeface="Calibri" pitchFamily="34" charset="-122"/>
                <a:cs typeface="Calibri" pitchFamily="34" charset="-120"/>
              </a:rPr>
              <a:t>are still outside it</a:t>
            </a:r>
            <a:endParaRPr lang="en-US" sz="1200" dirty="0"/>
          </a:p>
        </p:txBody>
      </p:sp>
      <p:sp>
        <p:nvSpPr>
          <p:cNvPr id="13" name="Shape 11"/>
          <p:cNvSpPr/>
          <p:nvPr/>
        </p:nvSpPr>
        <p:spPr>
          <a:xfrm>
            <a:off x="8915400" y="1783080"/>
            <a:ext cx="2651760" cy="1920240"/>
          </a:xfrm>
          <a:prstGeom prst="roundRect">
            <a:avLst>
              <a:gd name="adj" fmla="val 3810"/>
            </a:avLst>
          </a:prstGeom>
          <a:solidFill>
            <a:srgbClr val="EAF0EE"/>
          </a:solidFill>
          <a:ln/>
          <a:effectLst>
            <a:outerShdw sx="100000" sy="100000" kx="0" ky="0" algn="bl" rotWithShape="0" blurRad="76200" dist="25400" dir="5400000">
              <a:srgbClr val="999999">
                <a:alpha val="18000"/>
              </a:srgbClr>
            </a:outerShdw>
          </a:effectLst>
        </p:spPr>
      </p:sp>
      <p:sp>
        <p:nvSpPr>
          <p:cNvPr id="14" name="Text 12"/>
          <p:cNvSpPr/>
          <p:nvPr/>
        </p:nvSpPr>
        <p:spPr>
          <a:xfrm>
            <a:off x="8915400" y="1965960"/>
            <a:ext cx="2651760" cy="822960"/>
          </a:xfrm>
          <a:prstGeom prst="rect">
            <a:avLst/>
          </a:prstGeom>
          <a:noFill/>
          <a:ln/>
        </p:spPr>
        <p:txBody>
          <a:bodyPr wrap="square" lIns="0" tIns="0" rIns="0" bIns="0" rtlCol="0" anchor="ctr"/>
          <a:lstStyle/>
          <a:p>
            <a:pPr algn="ctr" indent="0" marL="0">
              <a:buNone/>
            </a:pPr>
            <a:r>
              <a:rPr lang="en-US" sz="3800" b="1" dirty="0">
                <a:solidFill>
                  <a:srgbClr val="C8102E"/>
                </a:solidFill>
                <a:latin typeface="Cambria" pitchFamily="34" charset="0"/>
                <a:ea typeface="Cambria" pitchFamily="34" charset="-122"/>
                <a:cs typeface="Cambria" pitchFamily="34" charset="-120"/>
              </a:rPr>
              <a:t>#1</a:t>
            </a:r>
            <a:endParaRPr lang="en-US" sz="3800" dirty="0"/>
          </a:p>
        </p:txBody>
      </p:sp>
      <p:sp>
        <p:nvSpPr>
          <p:cNvPr id="15" name="Text 13"/>
          <p:cNvSpPr/>
          <p:nvPr/>
        </p:nvSpPr>
        <p:spPr>
          <a:xfrm>
            <a:off x="8915400" y="2743200"/>
            <a:ext cx="2651760" cy="914400"/>
          </a:xfrm>
          <a:prstGeom prst="rect">
            <a:avLst/>
          </a:prstGeom>
          <a:noFill/>
          <a:ln/>
        </p:spPr>
        <p:txBody>
          <a:bodyPr wrap="square" lIns="0" tIns="0" rIns="0" bIns="0" rtlCol="0" anchor="ctr"/>
          <a:lstStyle/>
          <a:p>
            <a:pPr algn="ctr" indent="0" marL="0">
              <a:buNone/>
            </a:pPr>
            <a:r>
              <a:rPr lang="en-US" sz="1200" dirty="0">
                <a:solidFill>
                  <a:srgbClr val="5B6B6B"/>
                </a:solidFill>
                <a:latin typeface="Calibri" pitchFamily="34" charset="0"/>
                <a:ea typeface="Calibri" pitchFamily="34" charset="-122"/>
                <a:cs typeface="Calibri" pitchFamily="34" charset="-120"/>
              </a:rPr>
              <a:t>Lebanon has the highest</a:t>
            </a:r>
            <a:endParaRPr lang="en-US" sz="1200" dirty="0"/>
          </a:p>
          <a:p>
            <a:pPr algn="ctr" indent="0" marL="0">
              <a:buNone/>
            </a:pPr>
            <a:r>
              <a:rPr lang="en-US" sz="1200" dirty="0">
                <a:solidFill>
                  <a:srgbClr val="5B6B6B"/>
                </a:solidFill>
                <a:latin typeface="Calibri" pitchFamily="34" charset="0"/>
                <a:ea typeface="Calibri" pitchFamily="34" charset="-122"/>
                <a:cs typeface="Calibri" pitchFamily="34" charset="-120"/>
              </a:rPr>
              <a:t>transport CO₂/capita in the Levant</a:t>
            </a:r>
            <a:endParaRPr lang="en-US" sz="1200" dirty="0"/>
          </a:p>
        </p:txBody>
      </p:sp>
      <p:sp>
        <p:nvSpPr>
          <p:cNvPr id="16" name="Text 14"/>
          <p:cNvSpPr/>
          <p:nvPr/>
        </p:nvSpPr>
        <p:spPr>
          <a:xfrm>
            <a:off x="548640" y="3977640"/>
            <a:ext cx="11064240" cy="1005840"/>
          </a:xfrm>
          <a:prstGeom prst="rect">
            <a:avLst/>
          </a:prstGeom>
          <a:noFill/>
          <a:ln/>
        </p:spPr>
        <p:txBody>
          <a:bodyPr wrap="square" lIns="0" tIns="0" rIns="0" bIns="0" rtlCol="0" anchor="ctr"/>
          <a:lstStyle/>
          <a:p>
            <a:pPr indent="0" marL="0">
              <a:buNone/>
            </a:pPr>
            <a:r>
              <a:rPr lang="en-US" sz="1400" dirty="0">
                <a:solidFill>
                  <a:srgbClr val="1B2B2B"/>
                </a:solidFill>
                <a:latin typeface="Calibri" pitchFamily="34" charset="0"/>
                <a:ea typeface="Calibri" pitchFamily="34" charset="-122"/>
                <a:cs typeface="Calibri" pitchFamily="34" charset="-120"/>
              </a:rPr>
              <a:t>Meanwhile: Beirut's transport is a patchwork. Informal vans fill the gaps roads leave, and the new 2024 OCFTC/ACTC formal bus network (11 lines) runs in the same mixed traffic as everyone else — no dedicated lanes, no signal priority, and no feeder network connecting underserved neighborhoods to it.</a:t>
            </a:r>
            <a:endParaRPr lang="en-US" sz="1400" dirty="0"/>
          </a:p>
        </p:txBody>
      </p:sp>
      <p:sp>
        <p:nvSpPr>
          <p:cNvPr id="17" name="Text 15"/>
          <p:cNvSpPr/>
          <p:nvPr/>
        </p:nvSpPr>
        <p:spPr>
          <a:xfrm>
            <a:off x="548640" y="5074920"/>
            <a:ext cx="11064240" cy="731520"/>
          </a:xfrm>
          <a:prstGeom prst="rect">
            <a:avLst/>
          </a:prstGeom>
          <a:noFill/>
          <a:ln/>
        </p:spPr>
        <p:txBody>
          <a:bodyPr wrap="square" lIns="0" tIns="0" rIns="0" bIns="0" rtlCol="0" anchor="ctr"/>
          <a:lstStyle/>
          <a:p>
            <a:pPr indent="0" marL="0">
              <a:buNone/>
            </a:pPr>
            <a:r>
              <a:rPr lang="en-US" sz="1400" b="1" i="1" dirty="0">
                <a:solidFill>
                  <a:srgbClr val="1B4332"/>
                </a:solidFill>
                <a:latin typeface="Calibri" pitchFamily="34" charset="0"/>
                <a:ea typeface="Calibri" pitchFamily="34" charset="-122"/>
                <a:cs typeface="Calibri" pitchFamily="34" charset="-120"/>
              </a:rPr>
              <a:t>This project's question: what would it take — concretely, provably — to fix that, and how far could the ambition scale, from one neighborhood to the whole region?</a:t>
            </a:r>
            <a:endParaRPr lang="en-US" sz="1400" dirty="0"/>
          </a:p>
        </p:txBody>
      </p:sp>
      <p:sp>
        <p:nvSpPr>
          <p:cNvPr id="18" name="Text 16"/>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3A45"/>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FEAE3"/>
                </a:solidFill>
                <a:latin typeface="Calibri" pitchFamily="34" charset="0"/>
                <a:ea typeface="Calibri" pitchFamily="34" charset="-122"/>
                <a:cs typeface="Calibri" pitchFamily="34" charset="-120"/>
              </a:rPr>
              <a:t>AIM</a:t>
            </a:r>
            <a:endParaRPr lang="en-US" sz="1300" dirty="0"/>
          </a:p>
        </p:txBody>
      </p:sp>
      <p:sp>
        <p:nvSpPr>
          <p:cNvPr id="3" name="Text 1"/>
          <p:cNvSpPr/>
          <p:nvPr/>
        </p:nvSpPr>
        <p:spPr>
          <a:xfrm>
            <a:off x="822960" y="2103120"/>
            <a:ext cx="10515600" cy="2011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Design — and prove in simulation — an AI-driven path from Beirut's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fragmented transit to a regionally-reconnected Lebanon.</a:t>
            </a:r>
            <a:endParaRPr lang="en-US" sz="3400" dirty="0"/>
          </a:p>
        </p:txBody>
      </p:sp>
      <p:sp>
        <p:nvSpPr>
          <p:cNvPr id="4" name="Text 2"/>
          <p:cNvSpPr/>
          <p:nvPr/>
        </p:nvSpPr>
        <p:spPr>
          <a:xfrm>
            <a:off x="822960" y="4297680"/>
            <a:ext cx="9601200" cy="914400"/>
          </a:xfrm>
          <a:prstGeom prst="rect">
            <a:avLst/>
          </a:prstGeom>
          <a:noFill/>
          <a:ln/>
        </p:spPr>
        <p:txBody>
          <a:bodyPr wrap="square" lIns="0" tIns="0" rIns="0" bIns="0" rtlCol="0" anchor="ctr"/>
          <a:lstStyle/>
          <a:p>
            <a:pPr indent="0" marL="0">
              <a:buNone/>
            </a:pPr>
            <a:r>
              <a:rPr lang="en-US" sz="1500" dirty="0">
                <a:solidFill>
                  <a:srgbClr val="CFEAE3"/>
                </a:solidFill>
                <a:latin typeface="Calibri" pitchFamily="34" charset="0"/>
                <a:ea typeface="Calibri" pitchFamily="34" charset="-122"/>
                <a:cs typeface="Calibri" pitchFamily="34" charset="-120"/>
              </a:rPr>
              <a:t>Not a diagnosis. Not a wish list. An AI method that actually designs a route network, a simulation that actually tests it against today's system, and real, sourced regional data quantifying what reconnection could mean for Beirut's role in the region.</a:t>
            </a:r>
            <a:endParaRPr lang="en-US" sz="1500" dirty="0"/>
          </a:p>
        </p:txBody>
      </p:sp>
      <p:sp>
        <p:nvSpPr>
          <p:cNvPr id="5" name="Text 3"/>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EVOLUTION OF THOUGHT — PART 1</a:t>
            </a:r>
            <a:endParaRPr lang="en-US" sz="1300" dirty="0"/>
          </a:p>
        </p:txBody>
      </p:sp>
      <p:sp>
        <p:nvSpPr>
          <p:cNvPr id="3" name="Text 1"/>
          <p:cNvSpPr/>
          <p:nvPr/>
        </p:nvSpPr>
        <p:spPr>
          <a:xfrm>
            <a:off x="548640" y="658368"/>
            <a:ext cx="1097280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It started as: “fix Beirut's buses”</a:t>
            </a:r>
            <a:endParaRPr lang="en-US" sz="3200" dirty="0"/>
          </a:p>
        </p:txBody>
      </p:sp>
      <p:sp>
        <p:nvSpPr>
          <p:cNvPr id="4" name="Shape 2"/>
          <p:cNvSpPr/>
          <p:nvPr/>
        </p:nvSpPr>
        <p:spPr>
          <a:xfrm>
            <a:off x="548640" y="1965960"/>
            <a:ext cx="384048" cy="384048"/>
          </a:xfrm>
          <a:prstGeom prst="ellipse">
            <a:avLst/>
          </a:prstGeom>
          <a:solidFill>
            <a:srgbClr val="1B4332"/>
          </a:solidFill>
          <a:ln/>
        </p:spPr>
      </p:sp>
      <p:sp>
        <p:nvSpPr>
          <p:cNvPr id="5" name="Text 3"/>
          <p:cNvSpPr/>
          <p:nvPr/>
        </p:nvSpPr>
        <p:spPr>
          <a:xfrm>
            <a:off x="548640" y="1965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Shape 4"/>
          <p:cNvSpPr/>
          <p:nvPr/>
        </p:nvSpPr>
        <p:spPr>
          <a:xfrm>
            <a:off x="740664" y="2350008"/>
            <a:ext cx="0" cy="667512"/>
          </a:xfrm>
          <a:prstGeom prst="line">
            <a:avLst/>
          </a:prstGeom>
          <a:noFill/>
          <a:ln w="19050">
            <a:solidFill>
              <a:srgbClr val="C7D2D2"/>
            </a:solidFill>
            <a:prstDash val="dash"/>
          </a:ln>
        </p:spPr>
      </p:sp>
      <p:sp>
        <p:nvSpPr>
          <p:cNvPr id="7" name="Text 5"/>
          <p:cNvSpPr/>
          <p:nvPr/>
        </p:nvSpPr>
        <p:spPr>
          <a:xfrm>
            <a:off x="1143000" y="191109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Original passion</a:t>
            </a:r>
            <a:endParaRPr lang="en-US" sz="1350" dirty="0"/>
          </a:p>
        </p:txBody>
      </p:sp>
      <p:sp>
        <p:nvSpPr>
          <p:cNvPr id="8" name="Text 6"/>
          <p:cNvSpPr/>
          <p:nvPr/>
        </p:nvSpPr>
        <p:spPr>
          <a:xfrm>
            <a:off x="5029200" y="189280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Beirut's transport specifically: routes, hotspots, gaps, congestion data, and modern tech (IEEE 802.11p / V2X) on Beiruti roads.</a:t>
            </a:r>
            <a:endParaRPr lang="en-US" sz="1200" dirty="0"/>
          </a:p>
        </p:txBody>
      </p:sp>
      <p:sp>
        <p:nvSpPr>
          <p:cNvPr id="9" name="Shape 7"/>
          <p:cNvSpPr/>
          <p:nvPr/>
        </p:nvSpPr>
        <p:spPr>
          <a:xfrm>
            <a:off x="548640" y="3017520"/>
            <a:ext cx="384048" cy="384048"/>
          </a:xfrm>
          <a:prstGeom prst="ellipse">
            <a:avLst/>
          </a:prstGeom>
          <a:solidFill>
            <a:srgbClr val="1B4332"/>
          </a:solidFill>
          <a:ln/>
        </p:spPr>
      </p:sp>
      <p:sp>
        <p:nvSpPr>
          <p:cNvPr id="10" name="Text 8"/>
          <p:cNvSpPr/>
          <p:nvPr/>
        </p:nvSpPr>
        <p:spPr>
          <a:xfrm>
            <a:off x="54864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Shape 9"/>
          <p:cNvSpPr/>
          <p:nvPr/>
        </p:nvSpPr>
        <p:spPr>
          <a:xfrm>
            <a:off x="740664" y="3401568"/>
            <a:ext cx="0" cy="667512"/>
          </a:xfrm>
          <a:prstGeom prst="line">
            <a:avLst/>
          </a:prstGeom>
          <a:noFill/>
          <a:ln w="19050">
            <a:solidFill>
              <a:srgbClr val="C7D2D2"/>
            </a:solidFill>
            <a:prstDash val="dash"/>
          </a:ln>
        </p:spPr>
      </p:sp>
      <p:sp>
        <p:nvSpPr>
          <p:cNvPr id="12" name="Text 10"/>
          <p:cNvSpPr/>
          <p:nvPr/>
        </p:nvSpPr>
        <p:spPr>
          <a:xfrm>
            <a:off x="1143000" y="296265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Four candidate ideas</a:t>
            </a:r>
            <a:endParaRPr lang="en-US" sz="1350" dirty="0"/>
          </a:p>
        </p:txBody>
      </p:sp>
      <p:sp>
        <p:nvSpPr>
          <p:cNvPr id="13" name="Text 11"/>
          <p:cNvSpPr/>
          <p:nvPr/>
        </p:nvSpPr>
        <p:spPr>
          <a:xfrm>
            <a:off x="5029200" y="294436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I generated four scoped AI/ML directions before committing: transit-desert detection, congestion+V2X corridor simulation, an AI trip planner, and a mobility-equity dashboard.</a:t>
            </a:r>
            <a:endParaRPr lang="en-US" sz="1200" dirty="0"/>
          </a:p>
        </p:txBody>
      </p:sp>
      <p:sp>
        <p:nvSpPr>
          <p:cNvPr id="14" name="Shape 12"/>
          <p:cNvSpPr/>
          <p:nvPr/>
        </p:nvSpPr>
        <p:spPr>
          <a:xfrm>
            <a:off x="548640" y="4069080"/>
            <a:ext cx="384048" cy="384048"/>
          </a:xfrm>
          <a:prstGeom prst="ellipse">
            <a:avLst/>
          </a:prstGeom>
          <a:solidFill>
            <a:srgbClr val="1B4332"/>
          </a:solidFill>
          <a:ln/>
        </p:spPr>
      </p:sp>
      <p:sp>
        <p:nvSpPr>
          <p:cNvPr id="15" name="Text 13"/>
          <p:cNvSpPr/>
          <p:nvPr/>
        </p:nvSpPr>
        <p:spPr>
          <a:xfrm>
            <a:off x="54864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Shape 14"/>
          <p:cNvSpPr/>
          <p:nvPr/>
        </p:nvSpPr>
        <p:spPr>
          <a:xfrm>
            <a:off x="740664" y="4453128"/>
            <a:ext cx="0" cy="667512"/>
          </a:xfrm>
          <a:prstGeom prst="line">
            <a:avLst/>
          </a:prstGeom>
          <a:noFill/>
          <a:ln w="19050">
            <a:solidFill>
              <a:srgbClr val="C7D2D2"/>
            </a:solidFill>
            <a:prstDash val="dash"/>
          </a:ln>
        </p:spPr>
      </p:sp>
      <p:sp>
        <p:nvSpPr>
          <p:cNvPr id="17" name="Text 15"/>
          <p:cNvSpPr/>
          <p:nvPr/>
        </p:nvSpPr>
        <p:spPr>
          <a:xfrm>
            <a:off x="1143000" y="401421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Chose: congestion + V2X simulation</a:t>
            </a:r>
            <a:endParaRPr lang="en-US" sz="1350" dirty="0"/>
          </a:p>
        </p:txBody>
      </p:sp>
      <p:sp>
        <p:nvSpPr>
          <p:cNvPr id="18" name="Text 16"/>
          <p:cNvSpPr/>
          <p:nvPr/>
        </p:nvSpPr>
        <p:spPr>
          <a:xfrm>
            <a:off x="5029200" y="399592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Predict hotspots with ML, then simulate a V2X-style adaptive signal controller on one corridor.</a:t>
            </a:r>
            <a:endParaRPr lang="en-US" sz="1200" dirty="0"/>
          </a:p>
        </p:txBody>
      </p:sp>
      <p:sp>
        <p:nvSpPr>
          <p:cNvPr id="19" name="Shape 17"/>
          <p:cNvSpPr/>
          <p:nvPr/>
        </p:nvSpPr>
        <p:spPr>
          <a:xfrm>
            <a:off x="548640" y="5120640"/>
            <a:ext cx="384048" cy="384048"/>
          </a:xfrm>
          <a:prstGeom prst="ellipse">
            <a:avLst/>
          </a:prstGeom>
          <a:solidFill>
            <a:srgbClr val="1B4332"/>
          </a:solidFill>
          <a:ln/>
        </p:spPr>
      </p:sp>
      <p:sp>
        <p:nvSpPr>
          <p:cNvPr id="20" name="Text 18"/>
          <p:cNvSpPr/>
          <p:nvPr/>
        </p:nvSpPr>
        <p:spPr>
          <a:xfrm>
            <a:off x="548640" y="5120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Shape 19"/>
          <p:cNvSpPr/>
          <p:nvPr/>
        </p:nvSpPr>
        <p:spPr>
          <a:xfrm>
            <a:off x="740664" y="5504688"/>
            <a:ext cx="0" cy="667512"/>
          </a:xfrm>
          <a:prstGeom prst="line">
            <a:avLst/>
          </a:prstGeom>
          <a:noFill/>
          <a:ln w="19050">
            <a:solidFill>
              <a:srgbClr val="C7D2D2"/>
            </a:solidFill>
            <a:prstDash val="dash"/>
          </a:ln>
        </p:spPr>
      </p:sp>
      <p:sp>
        <p:nvSpPr>
          <p:cNvPr id="22" name="Text 20"/>
          <p:cNvSpPr/>
          <p:nvPr/>
        </p:nvSpPr>
        <p:spPr>
          <a:xfrm>
            <a:off x="1143000" y="506577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Scope reality check</a:t>
            </a:r>
            <a:endParaRPr lang="en-US" sz="1350" dirty="0"/>
          </a:p>
        </p:txBody>
      </p:sp>
      <p:sp>
        <p:nvSpPr>
          <p:cNvPr id="23" name="Text 21"/>
          <p:cNvSpPr/>
          <p:nvPr/>
        </p:nvSpPr>
        <p:spPr>
          <a:xfrm>
            <a:off x="5029200" y="504748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RL-based signal control plus a full ML prediction pipeline is genuinely ambitious solo work in 3 weeks — flagged honestly before building anything.</a:t>
            </a:r>
            <a:endParaRPr lang="en-US" sz="1200" dirty="0"/>
          </a:p>
        </p:txBody>
      </p:sp>
      <p:sp>
        <p:nvSpPr>
          <p:cNvPr id="24" name="Shape 22"/>
          <p:cNvSpPr/>
          <p:nvPr/>
        </p:nvSpPr>
        <p:spPr>
          <a:xfrm>
            <a:off x="548640" y="6172200"/>
            <a:ext cx="384048" cy="384048"/>
          </a:xfrm>
          <a:prstGeom prst="ellipse">
            <a:avLst/>
          </a:prstGeom>
          <a:solidFill>
            <a:srgbClr val="1B4332"/>
          </a:solidFill>
          <a:ln/>
        </p:spPr>
      </p:sp>
      <p:sp>
        <p:nvSpPr>
          <p:cNvPr id="25" name="Text 23"/>
          <p:cNvSpPr/>
          <p:nvPr/>
        </p:nvSpPr>
        <p:spPr>
          <a:xfrm>
            <a:off x="548640" y="6172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p:nvPr/>
        </p:nvSpPr>
        <p:spPr>
          <a:xfrm>
            <a:off x="1143000" y="611733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Descoped</a:t>
            </a:r>
            <a:endParaRPr lang="en-US" sz="1350" dirty="0"/>
          </a:p>
        </p:txBody>
      </p:sp>
      <p:sp>
        <p:nvSpPr>
          <p:cNvPr id="27" name="Text 25"/>
          <p:cNvSpPr/>
          <p:nvPr/>
        </p:nvSpPr>
        <p:spPr>
          <a:xfrm>
            <a:off x="5029200" y="609904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Single corridor, an existing RL library instead of a custom controller, one prediction model instead of two — kept the idea, cut the risk.</a:t>
            </a:r>
            <a:endParaRPr lang="en-US" sz="1200" dirty="0"/>
          </a:p>
        </p:txBody>
      </p:sp>
      <p:sp>
        <p:nvSpPr>
          <p:cNvPr id="28" name="Text 26"/>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EVOLUTION OF THOUGHT — PART 2</a:t>
            </a:r>
            <a:endParaRPr lang="en-US" sz="1300" dirty="0"/>
          </a:p>
        </p:txBody>
      </p:sp>
      <p:sp>
        <p:nvSpPr>
          <p:cNvPr id="3" name="Text 1"/>
          <p:cNvSpPr/>
          <p:nvPr/>
        </p:nvSpPr>
        <p:spPr>
          <a:xfrm>
            <a:off x="548640" y="658368"/>
            <a:ext cx="1097280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“Congestion prediction isn't the point — a working system is”</a:t>
            </a:r>
            <a:endParaRPr lang="en-US" sz="3200" dirty="0"/>
          </a:p>
        </p:txBody>
      </p:sp>
      <p:sp>
        <p:nvSpPr>
          <p:cNvPr id="4" name="Shape 2"/>
          <p:cNvSpPr/>
          <p:nvPr/>
        </p:nvSpPr>
        <p:spPr>
          <a:xfrm>
            <a:off x="548640" y="1965960"/>
            <a:ext cx="384048" cy="384048"/>
          </a:xfrm>
          <a:prstGeom prst="ellipse">
            <a:avLst/>
          </a:prstGeom>
          <a:solidFill>
            <a:srgbClr val="1B4332"/>
          </a:solidFill>
          <a:ln/>
        </p:spPr>
      </p:sp>
      <p:sp>
        <p:nvSpPr>
          <p:cNvPr id="5" name="Text 3"/>
          <p:cNvSpPr/>
          <p:nvPr/>
        </p:nvSpPr>
        <p:spPr>
          <a:xfrm>
            <a:off x="548640" y="1965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Shape 4"/>
          <p:cNvSpPr/>
          <p:nvPr/>
        </p:nvSpPr>
        <p:spPr>
          <a:xfrm>
            <a:off x="740664" y="2350008"/>
            <a:ext cx="0" cy="667512"/>
          </a:xfrm>
          <a:prstGeom prst="line">
            <a:avLst/>
          </a:prstGeom>
          <a:noFill/>
          <a:ln w="19050">
            <a:solidFill>
              <a:srgbClr val="C7D2D2"/>
            </a:solidFill>
            <a:prstDash val="dash"/>
          </a:ln>
        </p:spPr>
      </p:sp>
      <p:sp>
        <p:nvSpPr>
          <p:cNvPr id="7" name="Text 5"/>
          <p:cNvSpPr/>
          <p:nvPr/>
        </p:nvSpPr>
        <p:spPr>
          <a:xfrm>
            <a:off x="1143000" y="191109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The pushback</a:t>
            </a:r>
            <a:endParaRPr lang="en-US" sz="1350" dirty="0"/>
          </a:p>
        </p:txBody>
      </p:sp>
      <p:sp>
        <p:nvSpPr>
          <p:cNvPr id="8" name="Text 6"/>
          <p:cNvSpPr/>
          <p:nvPr/>
        </p:nvSpPr>
        <p:spPr>
          <a:xfrm>
            <a:off x="5029200" y="189280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“I don't just want to predict congestion — I want to propose a system that solves the shortcomings. Congestion is a subtopic, used as a black box.”</a:t>
            </a:r>
            <a:endParaRPr lang="en-US" sz="1200" dirty="0"/>
          </a:p>
        </p:txBody>
      </p:sp>
      <p:sp>
        <p:nvSpPr>
          <p:cNvPr id="9" name="Shape 7"/>
          <p:cNvSpPr/>
          <p:nvPr/>
        </p:nvSpPr>
        <p:spPr>
          <a:xfrm>
            <a:off x="548640" y="3017520"/>
            <a:ext cx="384048" cy="384048"/>
          </a:xfrm>
          <a:prstGeom prst="ellipse">
            <a:avLst/>
          </a:prstGeom>
          <a:solidFill>
            <a:srgbClr val="1B4332"/>
          </a:solidFill>
          <a:ln/>
        </p:spPr>
      </p:sp>
      <p:sp>
        <p:nvSpPr>
          <p:cNvPr id="10" name="Text 8"/>
          <p:cNvSpPr/>
          <p:nvPr/>
        </p:nvSpPr>
        <p:spPr>
          <a:xfrm>
            <a:off x="54864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Shape 9"/>
          <p:cNvSpPr/>
          <p:nvPr/>
        </p:nvSpPr>
        <p:spPr>
          <a:xfrm>
            <a:off x="740664" y="3401568"/>
            <a:ext cx="0" cy="667512"/>
          </a:xfrm>
          <a:prstGeom prst="line">
            <a:avLst/>
          </a:prstGeom>
          <a:noFill/>
          <a:ln w="19050">
            <a:solidFill>
              <a:srgbClr val="C7D2D2"/>
            </a:solidFill>
            <a:prstDash val="dash"/>
          </a:ln>
        </p:spPr>
      </p:sp>
      <p:sp>
        <p:nvSpPr>
          <p:cNvPr id="12" name="Text 10"/>
          <p:cNvSpPr/>
          <p:nvPr/>
        </p:nvSpPr>
        <p:spPr>
          <a:xfrm>
            <a:off x="1143000" y="296265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Restructure</a:t>
            </a:r>
            <a:endParaRPr lang="en-US" sz="1350" dirty="0"/>
          </a:p>
        </p:txBody>
      </p:sp>
      <p:sp>
        <p:nvSpPr>
          <p:cNvPr id="13" name="Text 11"/>
          <p:cNvSpPr/>
          <p:nvPr/>
        </p:nvSpPr>
        <p:spPr>
          <a:xfrm>
            <a:off x="5029200" y="294436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The AI headline became network *design*: a coverage-optimization algorithm (MCLP) that actually proposes a feeder route network — not a diagnostic.</a:t>
            </a:r>
            <a:endParaRPr lang="en-US" sz="1200" dirty="0"/>
          </a:p>
        </p:txBody>
      </p:sp>
      <p:sp>
        <p:nvSpPr>
          <p:cNvPr id="14" name="Shape 12"/>
          <p:cNvSpPr/>
          <p:nvPr/>
        </p:nvSpPr>
        <p:spPr>
          <a:xfrm>
            <a:off x="548640" y="4069080"/>
            <a:ext cx="384048" cy="384048"/>
          </a:xfrm>
          <a:prstGeom prst="ellipse">
            <a:avLst/>
          </a:prstGeom>
          <a:solidFill>
            <a:srgbClr val="1B4332"/>
          </a:solidFill>
          <a:ln/>
        </p:spPr>
      </p:sp>
      <p:sp>
        <p:nvSpPr>
          <p:cNvPr id="15" name="Text 13"/>
          <p:cNvSpPr/>
          <p:nvPr/>
        </p:nvSpPr>
        <p:spPr>
          <a:xfrm>
            <a:off x="54864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Shape 14"/>
          <p:cNvSpPr/>
          <p:nvPr/>
        </p:nvSpPr>
        <p:spPr>
          <a:xfrm>
            <a:off x="740664" y="4453128"/>
            <a:ext cx="0" cy="667512"/>
          </a:xfrm>
          <a:prstGeom prst="line">
            <a:avLst/>
          </a:prstGeom>
          <a:noFill/>
          <a:ln w="19050">
            <a:solidFill>
              <a:srgbClr val="C7D2D2"/>
            </a:solidFill>
            <a:prstDash val="dash"/>
          </a:ln>
        </p:spPr>
      </p:sp>
      <p:sp>
        <p:nvSpPr>
          <p:cNvPr id="17" name="Text 15"/>
          <p:cNvSpPr/>
          <p:nvPr/>
        </p:nvSpPr>
        <p:spPr>
          <a:xfrm>
            <a:off x="1143000" y="401421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Congestion model demoted</a:t>
            </a:r>
            <a:endParaRPr lang="en-US" sz="1350" dirty="0"/>
          </a:p>
        </p:txBody>
      </p:sp>
      <p:sp>
        <p:nvSpPr>
          <p:cNvPr id="18" name="Text 16"/>
          <p:cNvSpPr/>
          <p:nvPr/>
        </p:nvSpPr>
        <p:spPr>
          <a:xfrm>
            <a:off x="5029200" y="399592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Travel-time prediction became a supporting utility feeding the design and simulation — never the star.</a:t>
            </a:r>
            <a:endParaRPr lang="en-US" sz="1200" dirty="0"/>
          </a:p>
        </p:txBody>
      </p:sp>
      <p:sp>
        <p:nvSpPr>
          <p:cNvPr id="19" name="Shape 17"/>
          <p:cNvSpPr/>
          <p:nvPr/>
        </p:nvSpPr>
        <p:spPr>
          <a:xfrm>
            <a:off x="548640" y="5120640"/>
            <a:ext cx="384048" cy="384048"/>
          </a:xfrm>
          <a:prstGeom prst="ellipse">
            <a:avLst/>
          </a:prstGeom>
          <a:solidFill>
            <a:srgbClr val="1B4332"/>
          </a:solidFill>
          <a:ln/>
        </p:spPr>
      </p:sp>
      <p:sp>
        <p:nvSpPr>
          <p:cNvPr id="20" name="Text 18"/>
          <p:cNvSpPr/>
          <p:nvPr/>
        </p:nvSpPr>
        <p:spPr>
          <a:xfrm>
            <a:off x="548640" y="5120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Shape 19"/>
          <p:cNvSpPr/>
          <p:nvPr/>
        </p:nvSpPr>
        <p:spPr>
          <a:xfrm>
            <a:off x="740664" y="5504688"/>
            <a:ext cx="0" cy="667512"/>
          </a:xfrm>
          <a:prstGeom prst="line">
            <a:avLst/>
          </a:prstGeom>
          <a:noFill/>
          <a:ln w="19050">
            <a:solidFill>
              <a:srgbClr val="C7D2D2"/>
            </a:solidFill>
            <a:prstDash val="dash"/>
          </a:ln>
        </p:spPr>
      </p:sp>
      <p:sp>
        <p:nvSpPr>
          <p:cNvPr id="22" name="Text 20"/>
          <p:cNvSpPr/>
          <p:nvPr/>
        </p:nvSpPr>
        <p:spPr>
          <a:xfrm>
            <a:off x="1143000" y="506577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Simulation added</a:t>
            </a:r>
            <a:endParaRPr lang="en-US" sz="1350" dirty="0"/>
          </a:p>
        </p:txBody>
      </p:sp>
      <p:sp>
        <p:nvSpPr>
          <p:cNvPr id="23" name="Text 21"/>
          <p:cNvSpPr/>
          <p:nvPr/>
        </p:nvSpPr>
        <p:spPr>
          <a:xfrm>
            <a:off x="5029200" y="504748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A rule-based transit-signal-priority simulation (representing what V2X/802.11p enables) validates the proposed network against status quo.</a:t>
            </a:r>
            <a:endParaRPr lang="en-US" sz="1200" dirty="0"/>
          </a:p>
        </p:txBody>
      </p:sp>
      <p:sp>
        <p:nvSpPr>
          <p:cNvPr id="24" name="Shape 22"/>
          <p:cNvSpPr/>
          <p:nvPr/>
        </p:nvSpPr>
        <p:spPr>
          <a:xfrm>
            <a:off x="548640" y="6172200"/>
            <a:ext cx="384048" cy="384048"/>
          </a:xfrm>
          <a:prstGeom prst="ellipse">
            <a:avLst/>
          </a:prstGeom>
          <a:solidFill>
            <a:srgbClr val="1B4332"/>
          </a:solidFill>
          <a:ln/>
        </p:spPr>
      </p:sp>
      <p:sp>
        <p:nvSpPr>
          <p:cNvPr id="25" name="Text 23"/>
          <p:cNvSpPr/>
          <p:nvPr/>
        </p:nvSpPr>
        <p:spPr>
          <a:xfrm>
            <a:off x="548640" y="6172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p:nvPr/>
        </p:nvSpPr>
        <p:spPr>
          <a:xfrm>
            <a:off x="1143000" y="611733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Result</a:t>
            </a:r>
            <a:endParaRPr lang="en-US" sz="1350" dirty="0"/>
          </a:p>
        </p:txBody>
      </p:sp>
      <p:sp>
        <p:nvSpPr>
          <p:cNvPr id="27" name="Text 25"/>
          <p:cNvSpPr/>
          <p:nvPr/>
        </p:nvSpPr>
        <p:spPr>
          <a:xfrm>
            <a:off x="5029200" y="609904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This became Layer B: Beirut ReRoute — an AI-designed, simulated feeder-and-trunk network.</a:t>
            </a:r>
            <a:endParaRPr lang="en-US" sz="1200" dirty="0"/>
          </a:p>
        </p:txBody>
      </p:sp>
      <p:sp>
        <p:nvSpPr>
          <p:cNvPr id="28" name="Text 26"/>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EVOLUTION OF THOUGHT — PART 3</a:t>
            </a:r>
            <a:endParaRPr lang="en-US" sz="1300" dirty="0"/>
          </a:p>
        </p:txBody>
      </p:sp>
      <p:sp>
        <p:nvSpPr>
          <p:cNvPr id="3" name="Text 1"/>
          <p:cNvSpPr/>
          <p:nvPr/>
        </p:nvSpPr>
        <p:spPr>
          <a:xfrm>
            <a:off x="548640" y="658368"/>
            <a:ext cx="1097280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“I want to envision all of Lebanon, not just Beirut”</a:t>
            </a:r>
            <a:endParaRPr lang="en-US" sz="3200" dirty="0"/>
          </a:p>
        </p:txBody>
      </p:sp>
      <p:sp>
        <p:nvSpPr>
          <p:cNvPr id="4" name="Shape 2"/>
          <p:cNvSpPr/>
          <p:nvPr/>
        </p:nvSpPr>
        <p:spPr>
          <a:xfrm>
            <a:off x="548640" y="1965960"/>
            <a:ext cx="384048" cy="384048"/>
          </a:xfrm>
          <a:prstGeom prst="ellipse">
            <a:avLst/>
          </a:prstGeom>
          <a:solidFill>
            <a:srgbClr val="1B4332"/>
          </a:solidFill>
          <a:ln/>
        </p:spPr>
      </p:sp>
      <p:sp>
        <p:nvSpPr>
          <p:cNvPr id="5" name="Text 3"/>
          <p:cNvSpPr/>
          <p:nvPr/>
        </p:nvSpPr>
        <p:spPr>
          <a:xfrm>
            <a:off x="548640" y="1965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Shape 4"/>
          <p:cNvSpPr/>
          <p:nvPr/>
        </p:nvSpPr>
        <p:spPr>
          <a:xfrm>
            <a:off x="740664" y="2350008"/>
            <a:ext cx="0" cy="667512"/>
          </a:xfrm>
          <a:prstGeom prst="line">
            <a:avLst/>
          </a:prstGeom>
          <a:noFill/>
          <a:ln w="19050">
            <a:solidFill>
              <a:srgbClr val="C7D2D2"/>
            </a:solidFill>
            <a:prstDash val="dash"/>
          </a:ln>
        </p:spPr>
      </p:sp>
      <p:sp>
        <p:nvSpPr>
          <p:cNvPr id="7" name="Text 5"/>
          <p:cNvSpPr/>
          <p:nvPr/>
        </p:nvSpPr>
        <p:spPr>
          <a:xfrm>
            <a:off x="1143000" y="191109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The bigger ask</a:t>
            </a:r>
            <a:endParaRPr lang="en-US" sz="1350" dirty="0"/>
          </a:p>
        </p:txBody>
      </p:sp>
      <p:sp>
        <p:nvSpPr>
          <p:cNvPr id="8" name="Text 6"/>
          <p:cNvSpPr/>
          <p:nvPr/>
        </p:nvSpPr>
        <p:spPr>
          <a:xfrm>
            <a:off x="5029200" y="189280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Ports, rail, trams, metro, international lines — Beirut as a regional hub connecting to Damascus, Amman, Cyprus, Turkey — “regardless of budget.”</a:t>
            </a:r>
            <a:endParaRPr lang="en-US" sz="1200" dirty="0"/>
          </a:p>
        </p:txBody>
      </p:sp>
      <p:sp>
        <p:nvSpPr>
          <p:cNvPr id="9" name="Shape 7"/>
          <p:cNvSpPr/>
          <p:nvPr/>
        </p:nvSpPr>
        <p:spPr>
          <a:xfrm>
            <a:off x="548640" y="3017520"/>
            <a:ext cx="384048" cy="384048"/>
          </a:xfrm>
          <a:prstGeom prst="ellipse">
            <a:avLst/>
          </a:prstGeom>
          <a:solidFill>
            <a:srgbClr val="1B4332"/>
          </a:solidFill>
          <a:ln/>
        </p:spPr>
      </p:sp>
      <p:sp>
        <p:nvSpPr>
          <p:cNvPr id="10" name="Text 8"/>
          <p:cNvSpPr/>
          <p:nvPr/>
        </p:nvSpPr>
        <p:spPr>
          <a:xfrm>
            <a:off x="54864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Shape 9"/>
          <p:cNvSpPr/>
          <p:nvPr/>
        </p:nvSpPr>
        <p:spPr>
          <a:xfrm>
            <a:off x="740664" y="3401568"/>
            <a:ext cx="0" cy="667512"/>
          </a:xfrm>
          <a:prstGeom prst="line">
            <a:avLst/>
          </a:prstGeom>
          <a:noFill/>
          <a:ln w="19050">
            <a:solidFill>
              <a:srgbClr val="C7D2D2"/>
            </a:solidFill>
            <a:prstDash val="dash"/>
          </a:ln>
        </p:spPr>
      </p:sp>
      <p:sp>
        <p:nvSpPr>
          <p:cNvPr id="12" name="Text 10"/>
          <p:cNvSpPr/>
          <p:nvPr/>
        </p:nvSpPr>
        <p:spPr>
          <a:xfrm>
            <a:off x="1143000" y="296265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Reality check</a:t>
            </a:r>
            <a:endParaRPr lang="en-US" sz="1350" dirty="0"/>
          </a:p>
        </p:txBody>
      </p:sp>
      <p:sp>
        <p:nvSpPr>
          <p:cNvPr id="13" name="Text 11"/>
          <p:cNvSpPr/>
          <p:nvPr/>
        </p:nvSpPr>
        <p:spPr>
          <a:xfrm>
            <a:off x="5029200" y="294436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Simulating ports, ships, and rail nationwide isn't buildable solo in days — but the ambition was legitimate and, as research showed, well-timed.</a:t>
            </a:r>
            <a:endParaRPr lang="en-US" sz="1200" dirty="0"/>
          </a:p>
        </p:txBody>
      </p:sp>
      <p:sp>
        <p:nvSpPr>
          <p:cNvPr id="14" name="Shape 12"/>
          <p:cNvSpPr/>
          <p:nvPr/>
        </p:nvSpPr>
        <p:spPr>
          <a:xfrm>
            <a:off x="548640" y="4069080"/>
            <a:ext cx="384048" cy="384048"/>
          </a:xfrm>
          <a:prstGeom prst="ellipse">
            <a:avLst/>
          </a:prstGeom>
          <a:solidFill>
            <a:srgbClr val="1B4332"/>
          </a:solidFill>
          <a:ln/>
        </p:spPr>
      </p:sp>
      <p:sp>
        <p:nvSpPr>
          <p:cNvPr id="15" name="Text 13"/>
          <p:cNvSpPr/>
          <p:nvPr/>
        </p:nvSpPr>
        <p:spPr>
          <a:xfrm>
            <a:off x="54864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Shape 14"/>
          <p:cNvSpPr/>
          <p:nvPr/>
        </p:nvSpPr>
        <p:spPr>
          <a:xfrm>
            <a:off x="740664" y="4453128"/>
            <a:ext cx="0" cy="667512"/>
          </a:xfrm>
          <a:prstGeom prst="line">
            <a:avLst/>
          </a:prstGeom>
          <a:noFill/>
          <a:ln w="19050">
            <a:solidFill>
              <a:srgbClr val="C7D2D2"/>
            </a:solidFill>
            <a:prstDash val="dash"/>
          </a:ln>
        </p:spPr>
      </p:sp>
      <p:sp>
        <p:nvSpPr>
          <p:cNvPr id="17" name="Text 15"/>
          <p:cNvSpPr/>
          <p:nvPr/>
        </p:nvSpPr>
        <p:spPr>
          <a:xfrm>
            <a:off x="1143000" y="401421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Grounded, not invented</a:t>
            </a:r>
            <a:endParaRPr lang="en-US" sz="1350" dirty="0"/>
          </a:p>
        </p:txBody>
      </p:sp>
      <p:sp>
        <p:nvSpPr>
          <p:cNvPr id="18" name="Text 16"/>
          <p:cNvSpPr/>
          <p:nvPr/>
        </p:nvSpPr>
        <p:spPr>
          <a:xfrm>
            <a:off x="5029200" y="399592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Real 2025-2026 developments: the Jounieh–Cyprus ferry, the Turkey-Syria-Jordan-Saudi Hejaz Railway revival, Lebanon's own Arab Mashreq Railway agreement.</a:t>
            </a:r>
            <a:endParaRPr lang="en-US" sz="1200" dirty="0"/>
          </a:p>
        </p:txBody>
      </p:sp>
      <p:sp>
        <p:nvSpPr>
          <p:cNvPr id="19" name="Shape 17"/>
          <p:cNvSpPr/>
          <p:nvPr/>
        </p:nvSpPr>
        <p:spPr>
          <a:xfrm>
            <a:off x="548640" y="5120640"/>
            <a:ext cx="384048" cy="384048"/>
          </a:xfrm>
          <a:prstGeom prst="ellipse">
            <a:avLst/>
          </a:prstGeom>
          <a:solidFill>
            <a:srgbClr val="1B4332"/>
          </a:solidFill>
          <a:ln/>
        </p:spPr>
      </p:sp>
      <p:sp>
        <p:nvSpPr>
          <p:cNvPr id="20" name="Text 18"/>
          <p:cNvSpPr/>
          <p:nvPr/>
        </p:nvSpPr>
        <p:spPr>
          <a:xfrm>
            <a:off x="548640" y="5120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Shape 19"/>
          <p:cNvSpPr/>
          <p:nvPr/>
        </p:nvSpPr>
        <p:spPr>
          <a:xfrm>
            <a:off x="740664" y="5504688"/>
            <a:ext cx="0" cy="667512"/>
          </a:xfrm>
          <a:prstGeom prst="line">
            <a:avLst/>
          </a:prstGeom>
          <a:noFill/>
          <a:ln w="19050">
            <a:solidFill>
              <a:srgbClr val="C7D2D2"/>
            </a:solidFill>
            <a:prstDash val="dash"/>
          </a:ln>
        </p:spPr>
      </p:sp>
      <p:sp>
        <p:nvSpPr>
          <p:cNvPr id="22" name="Text 20"/>
          <p:cNvSpPr/>
          <p:nvPr/>
        </p:nvSpPr>
        <p:spPr>
          <a:xfrm>
            <a:off x="1143000" y="506577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The reconciliation</a:t>
            </a:r>
            <a:endParaRPr lang="en-US" sz="1350" dirty="0"/>
          </a:p>
        </p:txBody>
      </p:sp>
      <p:sp>
        <p:nvSpPr>
          <p:cNvPr id="23" name="Text 21"/>
          <p:cNvSpPr/>
          <p:nvPr/>
        </p:nvSpPr>
        <p:spPr>
          <a:xfrm>
            <a:off x="5029200" y="504748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Split into two honestly-scoped layers instead of one overreaching one — see next section.</a:t>
            </a:r>
            <a:endParaRPr lang="en-US" sz="1200" dirty="0"/>
          </a:p>
        </p:txBody>
      </p:sp>
      <p:sp>
        <p:nvSpPr>
          <p:cNvPr id="24" name="Shape 22"/>
          <p:cNvSpPr/>
          <p:nvPr/>
        </p:nvSpPr>
        <p:spPr>
          <a:xfrm>
            <a:off x="548640" y="6172200"/>
            <a:ext cx="384048" cy="384048"/>
          </a:xfrm>
          <a:prstGeom prst="ellipse">
            <a:avLst/>
          </a:prstGeom>
          <a:solidFill>
            <a:srgbClr val="1B4332"/>
          </a:solidFill>
          <a:ln/>
        </p:spPr>
      </p:sp>
      <p:sp>
        <p:nvSpPr>
          <p:cNvPr id="25" name="Text 23"/>
          <p:cNvSpPr/>
          <p:nvPr/>
        </p:nvSpPr>
        <p:spPr>
          <a:xfrm>
            <a:off x="548640" y="6172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p:nvPr/>
        </p:nvSpPr>
        <p:spPr>
          <a:xfrm>
            <a:off x="1143000" y="6117336"/>
            <a:ext cx="3749040" cy="457200"/>
          </a:xfrm>
          <a:prstGeom prst="rect">
            <a:avLst/>
          </a:prstGeom>
          <a:noFill/>
          <a:ln/>
        </p:spPr>
        <p:txBody>
          <a:bodyPr wrap="square" lIns="0" tIns="0" rIns="0" bIns="0" rtlCol="0" anchor="ctr"/>
          <a:lstStyle/>
          <a:p>
            <a:pPr indent="0" marL="0">
              <a:buNone/>
            </a:pPr>
            <a:r>
              <a:rPr lang="en-US" sz="1350" b="1" dirty="0">
                <a:solidFill>
                  <a:srgbClr val="0E3A45"/>
                </a:solidFill>
                <a:latin typeface="Calibri" pitchFamily="34" charset="0"/>
                <a:ea typeface="Calibri" pitchFamily="34" charset="-122"/>
                <a:cs typeface="Calibri" pitchFamily="34" charset="-120"/>
              </a:rPr>
              <a:t>Then: the pivot to code</a:t>
            </a:r>
            <a:endParaRPr lang="en-US" sz="1350" dirty="0"/>
          </a:p>
        </p:txBody>
      </p:sp>
      <p:sp>
        <p:nvSpPr>
          <p:cNvPr id="27" name="Text 25"/>
          <p:cNvSpPr/>
          <p:nvPr/>
        </p:nvSpPr>
        <p:spPr>
          <a:xfrm>
            <a:off x="5029200" y="6099048"/>
            <a:ext cx="6583680" cy="914400"/>
          </a:xfrm>
          <a:prstGeom prst="rect">
            <a:avLst/>
          </a:prstGeom>
          <a:noFill/>
          <a:ln/>
        </p:spPr>
        <p:txBody>
          <a:bodyPr wrap="square" lIns="0" tIns="0" rIns="0" bIns="0" rtlCol="0" anchor="t"/>
          <a:lstStyle/>
          <a:p>
            <a:pPr indent="0" marL="0">
              <a:buNone/>
            </a:pPr>
            <a:r>
              <a:rPr lang="en-US" sz="1200" dirty="0">
                <a:solidFill>
                  <a:srgbClr val="5B6B6B"/>
                </a:solidFill>
                <a:latin typeface="Calibri" pitchFamily="34" charset="0"/>
                <a:ea typeface="Calibri" pitchFamily="34" charset="-122"/>
                <a:cs typeface="Calibri" pitchFamily="34" charset="-120"/>
              </a:rPr>
              <a:t>Discovered Layer B was already substantially implemented in real, tested code — pivoted straight into extending it for Layer A.</a:t>
            </a:r>
            <a:endParaRPr lang="en-US" sz="1200" dirty="0"/>
          </a:p>
        </p:txBody>
      </p:sp>
      <p:sp>
        <p:nvSpPr>
          <p:cNvPr id="28" name="Text 26"/>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3A45"/>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FEAE3"/>
                </a:solidFill>
                <a:latin typeface="Calibri" pitchFamily="34" charset="0"/>
                <a:ea typeface="Calibri" pitchFamily="34" charset="-122"/>
                <a:cs typeface="Calibri" pitchFamily="34" charset="-120"/>
              </a:rPr>
              <a:t>SYSTEM ARCHITECTURE</a:t>
            </a:r>
            <a:endParaRPr lang="en-US" sz="13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layers, reconciled by scope — not by ambition</a:t>
            </a:r>
            <a:endParaRPr lang="en-US" sz="3200" dirty="0"/>
          </a:p>
        </p:txBody>
      </p:sp>
      <p:sp>
        <p:nvSpPr>
          <p:cNvPr id="4" name="Shape 2"/>
          <p:cNvSpPr/>
          <p:nvPr/>
        </p:nvSpPr>
        <p:spPr>
          <a:xfrm>
            <a:off x="640080" y="1920240"/>
            <a:ext cx="5120640" cy="3931920"/>
          </a:xfrm>
          <a:prstGeom prst="roundRect">
            <a:avLst>
              <a:gd name="adj" fmla="val 2326"/>
            </a:avLst>
          </a:prstGeom>
          <a:solidFill>
            <a:srgbClr val="1B4332"/>
          </a:solidFill>
          <a:ln/>
        </p:spPr>
      </p:sp>
      <p:sp>
        <p:nvSpPr>
          <p:cNvPr id="5" name="Text 3"/>
          <p:cNvSpPr/>
          <p:nvPr/>
        </p:nvSpPr>
        <p:spPr>
          <a:xfrm>
            <a:off x="914400" y="2194560"/>
            <a:ext cx="4572000" cy="36576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LAYER A — Lebanon ReConnect</a:t>
            </a:r>
            <a:endParaRPr lang="en-US" sz="1500" dirty="0"/>
          </a:p>
        </p:txBody>
      </p:sp>
      <p:sp>
        <p:nvSpPr>
          <p:cNvPr id="6" name="Text 4"/>
          <p:cNvSpPr/>
          <p:nvPr/>
        </p:nvSpPr>
        <p:spPr>
          <a:xfrm>
            <a:off x="914400" y="2560320"/>
            <a:ext cx="45720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National / regional vision</a:t>
            </a:r>
            <a:endParaRPr lang="en-US" sz="2000" dirty="0"/>
          </a:p>
        </p:txBody>
      </p:sp>
      <p:sp>
        <p:nvSpPr>
          <p:cNvPr id="7" name="Text 5"/>
          <p:cNvSpPr/>
          <p:nvPr/>
        </p:nvSpPr>
        <p:spPr>
          <a:xfrm>
            <a:off x="914400" y="3063240"/>
            <a:ext cx="4572000" cy="2468880"/>
          </a:xfrm>
          <a:prstGeom prst="rect">
            <a:avLst/>
          </a:prstGeom>
          <a:noFill/>
          <a:ln/>
        </p:spPr>
        <p:txBody>
          <a:bodyPr wrap="square" lIns="0" tIns="0" rIns="0" bIns="0" rtlCol="0" anchor="t"/>
          <a:lstStyle/>
          <a:p>
            <a:pPr indent="0" marL="0">
              <a:buNone/>
            </a:pPr>
            <a:r>
              <a:rPr lang="en-US" sz="1300" dirty="0">
                <a:solidFill>
                  <a:srgbClr val="CFEAE3"/>
                </a:solidFill>
                <a:latin typeface="Calibri" pitchFamily="34" charset="0"/>
                <a:ea typeface="Calibri" pitchFamily="34" charset="-122"/>
                <a:cs typeface="Calibri" pitchFamily="34" charset="-120"/>
              </a:rPr>
              <a:t>A lightweight network graph of Lebanon's ports, historic and</a:t>
            </a: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currently-revived rail, and the 2026 regional ferry — evaluated</a:t>
            </a: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with graph centrality, not physical simulation.</a:t>
            </a:r>
            <a:endParaRPr lang="en-US" sz="1300" dirty="0"/>
          </a:p>
          <a:p>
            <a:pPr indent="0" marL="0">
              <a:buNone/>
            </a:pP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Answers: how much more central could Beirut become,</a:t>
            </a: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regionally, if reconnected?</a:t>
            </a:r>
            <a:endParaRPr lang="en-US" sz="1300" dirty="0"/>
          </a:p>
          <a:p>
            <a:pPr indent="0" marL="0">
              <a:buNone/>
            </a:pP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Scope: days, not weeks. Topological, not engineering-grade.</a:t>
            </a:r>
            <a:endParaRPr lang="en-US" sz="1300" dirty="0"/>
          </a:p>
        </p:txBody>
      </p:sp>
      <p:sp>
        <p:nvSpPr>
          <p:cNvPr id="8" name="Shape 6"/>
          <p:cNvSpPr/>
          <p:nvPr/>
        </p:nvSpPr>
        <p:spPr>
          <a:xfrm>
            <a:off x="6080760" y="1920240"/>
            <a:ext cx="5120640" cy="3931920"/>
          </a:xfrm>
          <a:prstGeom prst="roundRect">
            <a:avLst>
              <a:gd name="adj" fmla="val 2326"/>
            </a:avLst>
          </a:prstGeom>
          <a:solidFill>
            <a:srgbClr val="134A3A"/>
          </a:solidFill>
          <a:ln/>
        </p:spPr>
      </p:sp>
      <p:sp>
        <p:nvSpPr>
          <p:cNvPr id="9" name="Text 7"/>
          <p:cNvSpPr/>
          <p:nvPr/>
        </p:nvSpPr>
        <p:spPr>
          <a:xfrm>
            <a:off x="6355080" y="2194560"/>
            <a:ext cx="4572000" cy="36576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LAYER B — Beirut ReRoute</a:t>
            </a:r>
            <a:endParaRPr lang="en-US" sz="1500" dirty="0"/>
          </a:p>
        </p:txBody>
      </p:sp>
      <p:sp>
        <p:nvSpPr>
          <p:cNvPr id="10" name="Text 8"/>
          <p:cNvSpPr/>
          <p:nvPr/>
        </p:nvSpPr>
        <p:spPr>
          <a:xfrm>
            <a:off x="6355080" y="2560320"/>
            <a:ext cx="45720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AI-designed, simulated pilot</a:t>
            </a:r>
            <a:endParaRPr lang="en-US" sz="2000" dirty="0"/>
          </a:p>
        </p:txBody>
      </p:sp>
      <p:sp>
        <p:nvSpPr>
          <p:cNvPr id="11" name="Text 9"/>
          <p:cNvSpPr/>
          <p:nvPr/>
        </p:nvSpPr>
        <p:spPr>
          <a:xfrm>
            <a:off x="6355080" y="3063240"/>
            <a:ext cx="4572000" cy="2468880"/>
          </a:xfrm>
          <a:prstGeom prst="rect">
            <a:avLst/>
          </a:prstGeom>
          <a:noFill/>
          <a:ln/>
        </p:spPr>
        <p:txBody>
          <a:bodyPr wrap="square" lIns="0" tIns="0" rIns="0" bIns="0" rtlCol="0" anchor="t"/>
          <a:lstStyle/>
          <a:p>
            <a:pPr indent="0" marL="0">
              <a:buNone/>
            </a:pPr>
            <a:r>
              <a:rPr lang="en-US" sz="1300" dirty="0">
                <a:solidFill>
                  <a:srgbClr val="CFEAE3"/>
                </a:solidFill>
                <a:latin typeface="Calibri" pitchFamily="34" charset="0"/>
                <a:ea typeface="Calibri" pitchFamily="34" charset="-122"/>
                <a:cs typeface="Calibri" pitchFamily="34" charset="-120"/>
              </a:rPr>
              <a:t>A coverage-optimization algorithm (MCLP) designs a real feeder</a:t>
            </a: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network for underserved Beirut neighborhoods, connecting them</a:t>
            </a: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to the 2024 OCFTC trunk lines.</a:t>
            </a:r>
            <a:endParaRPr lang="en-US" sz="1300" dirty="0"/>
          </a:p>
          <a:p>
            <a:pPr indent="0" marL="0">
              <a:buNone/>
            </a:pP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A signal-priority simulation (SimPy) tests the proposed system</a:t>
            </a: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against today's, on real OSM roads and real geocoded stops.</a:t>
            </a:r>
            <a:endParaRPr lang="en-US" sz="1300" dirty="0"/>
          </a:p>
          <a:p>
            <a:pPr indent="0" marL="0">
              <a:buNone/>
            </a:pPr>
            <a:endParaRPr lang="en-US" sz="1300" dirty="0"/>
          </a:p>
          <a:p>
            <a:pPr indent="0" marL="0">
              <a:buNone/>
            </a:pPr>
            <a:r>
              <a:rPr lang="en-US" sz="1300" dirty="0">
                <a:solidFill>
                  <a:srgbClr val="CFEAE3"/>
                </a:solidFill>
                <a:latin typeface="Calibri" pitchFamily="34" charset="0"/>
                <a:ea typeface="Calibri" pitchFamily="34" charset="-122"/>
                <a:cs typeface="Calibri" pitchFamily="34" charset="-120"/>
              </a:rPr>
              <a:t>Scope: one region, fully executable, fully tested.</a:t>
            </a:r>
            <a:endParaRPr lang="en-US" sz="1300" dirty="0"/>
          </a:p>
        </p:txBody>
      </p:sp>
      <p:sp>
        <p:nvSpPr>
          <p:cNvPr id="12" name="Text 10"/>
          <p:cNvSpPr/>
          <p:nvPr/>
        </p:nvSpPr>
        <p:spPr>
          <a:xfrm>
            <a:off x="640080" y="5989320"/>
            <a:ext cx="10881360" cy="365760"/>
          </a:xfrm>
          <a:prstGeom prst="rect">
            <a:avLst/>
          </a:prstGeom>
          <a:noFill/>
          <a:ln/>
        </p:spPr>
        <p:txBody>
          <a:bodyPr wrap="square" lIns="0" tIns="0" rIns="0" bIns="0" rtlCol="0" anchor="ctr"/>
          <a:lstStyle/>
          <a:p>
            <a:pPr algn="ctr" indent="0" marL="0">
              <a:buNone/>
            </a:pPr>
            <a:r>
              <a:rPr lang="en-US" sz="1300" i="1" dirty="0">
                <a:solidFill>
                  <a:srgbClr val="CFEAE3"/>
                </a:solidFill>
                <a:latin typeface="Calibri" pitchFamily="34" charset="0"/>
                <a:ea typeface="Calibri" pitchFamily="34" charset="-122"/>
                <a:cs typeface="Calibri" pitchFamily="34" charset="-120"/>
              </a:rPr>
              <a:t>Connected by a phased action plan: Layer B is Phase 1 of Layer A's vision.</a:t>
            </a:r>
            <a:endParaRPr lang="en-US" sz="1300" dirty="0"/>
          </a:p>
        </p:txBody>
      </p:sp>
      <p:sp>
        <p:nvSpPr>
          <p:cNvPr id="13" name="Text 11"/>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METHODOLOGY · LAYER B</a:t>
            </a:r>
            <a:endParaRPr lang="en-US" sz="13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Beirut ReRoute: four stages, real data at every step</a:t>
            </a:r>
            <a:endParaRPr lang="en-US" sz="3200" dirty="0"/>
          </a:p>
        </p:txBody>
      </p:sp>
      <p:sp>
        <p:nvSpPr>
          <p:cNvPr id="4" name="Shape 2"/>
          <p:cNvSpPr/>
          <p:nvPr/>
        </p:nvSpPr>
        <p:spPr>
          <a:xfrm>
            <a:off x="548640" y="1783080"/>
            <a:ext cx="457200" cy="457200"/>
          </a:xfrm>
          <a:prstGeom prst="ellipse">
            <a:avLst/>
          </a:prstGeom>
          <a:solidFill>
            <a:srgbClr val="1B4332"/>
          </a:solidFill>
          <a:ln/>
        </p:spPr>
      </p:sp>
      <p:sp>
        <p:nvSpPr>
          <p:cNvPr id="5" name="Text 3"/>
          <p:cNvSpPr/>
          <p:nvPr/>
        </p:nvSpPr>
        <p:spPr>
          <a:xfrm>
            <a:off x="54864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①</a:t>
            </a:r>
            <a:endParaRPr lang="en-US" sz="1800" dirty="0"/>
          </a:p>
        </p:txBody>
      </p:sp>
      <p:sp>
        <p:nvSpPr>
          <p:cNvPr id="6" name="Text 4"/>
          <p:cNvSpPr/>
          <p:nvPr/>
        </p:nvSpPr>
        <p:spPr>
          <a:xfrm>
            <a:off x="1170432" y="173736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Data acquisition</a:t>
            </a:r>
            <a:endParaRPr lang="en-US" sz="1500" dirty="0"/>
          </a:p>
        </p:txBody>
      </p:sp>
      <p:sp>
        <p:nvSpPr>
          <p:cNvPr id="7" name="Text 5"/>
          <p:cNvSpPr/>
          <p:nvPr/>
        </p:nvSpPr>
        <p:spPr>
          <a:xfrm>
            <a:off x="1170432" y="203911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Real OSM road/walk networks, WorldPop population density, the crowdsourced Lebanese Bus Routes dataset, and OCFTC/ACTC's 9 formal lines — hand-transcribed from transitapp.com and geocoded via Nominatim (191 stops, 157 resolved).</a:t>
            </a:r>
            <a:endParaRPr lang="en-US" sz="1150" dirty="0"/>
          </a:p>
        </p:txBody>
      </p:sp>
      <p:sp>
        <p:nvSpPr>
          <p:cNvPr id="8" name="Shape 6"/>
          <p:cNvSpPr/>
          <p:nvPr/>
        </p:nvSpPr>
        <p:spPr>
          <a:xfrm>
            <a:off x="548640" y="2834640"/>
            <a:ext cx="457200" cy="457200"/>
          </a:xfrm>
          <a:prstGeom prst="ellipse">
            <a:avLst/>
          </a:prstGeom>
          <a:solidFill>
            <a:srgbClr val="1B4332"/>
          </a:solidFill>
          <a:ln/>
        </p:spPr>
      </p:sp>
      <p:sp>
        <p:nvSpPr>
          <p:cNvPr id="9" name="Text 7"/>
          <p:cNvSpPr/>
          <p:nvPr/>
        </p:nvSpPr>
        <p:spPr>
          <a:xfrm>
            <a:off x="54864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②</a:t>
            </a:r>
            <a:endParaRPr lang="en-US" sz="1800" dirty="0"/>
          </a:p>
        </p:txBody>
      </p:sp>
      <p:sp>
        <p:nvSpPr>
          <p:cNvPr id="10" name="Text 8"/>
          <p:cNvSpPr/>
          <p:nvPr/>
        </p:nvSpPr>
        <p:spPr>
          <a:xfrm>
            <a:off x="1170432" y="278892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Accessibility scoring</a:t>
            </a:r>
            <a:endParaRPr lang="en-US" sz="1500" dirty="0"/>
          </a:p>
        </p:txBody>
      </p:sp>
      <p:sp>
        <p:nvSpPr>
          <p:cNvPr id="11" name="Text 9"/>
          <p:cNvSpPr/>
          <p:nvPr/>
        </p:nvSpPr>
        <p:spPr>
          <a:xfrm>
            <a:off x="1170432" y="309067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An H3 hex grid scores every cell's walk-time to the nearest stop today — the status-quo baseline: 92.2% population-weighted coverage.</a:t>
            </a:r>
            <a:endParaRPr lang="en-US" sz="1150" dirty="0"/>
          </a:p>
        </p:txBody>
      </p:sp>
      <p:sp>
        <p:nvSpPr>
          <p:cNvPr id="12" name="Shape 10"/>
          <p:cNvSpPr/>
          <p:nvPr/>
        </p:nvSpPr>
        <p:spPr>
          <a:xfrm>
            <a:off x="548640" y="3886200"/>
            <a:ext cx="457200" cy="457200"/>
          </a:xfrm>
          <a:prstGeom prst="ellipse">
            <a:avLst/>
          </a:prstGeom>
          <a:solidFill>
            <a:srgbClr val="1B4332"/>
          </a:solidFill>
          <a:ln/>
        </p:spPr>
      </p:sp>
      <p:sp>
        <p:nvSpPr>
          <p:cNvPr id="13" name="Text 11"/>
          <p:cNvSpPr/>
          <p:nvPr/>
        </p:nvSpPr>
        <p:spPr>
          <a:xfrm>
            <a:off x="548640" y="3886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③</a:t>
            </a:r>
            <a:endParaRPr lang="en-US" sz="1800" dirty="0"/>
          </a:p>
        </p:txBody>
      </p:sp>
      <p:sp>
        <p:nvSpPr>
          <p:cNvPr id="14" name="Text 12"/>
          <p:cNvSpPr/>
          <p:nvPr/>
        </p:nvSpPr>
        <p:spPr>
          <a:xfrm>
            <a:off x="1170432" y="384048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AI network design (MCLP)</a:t>
            </a:r>
            <a:endParaRPr lang="en-US" sz="1500" dirty="0"/>
          </a:p>
        </p:txBody>
      </p:sp>
      <p:sp>
        <p:nvSpPr>
          <p:cNvPr id="15" name="Text 13"/>
          <p:cNvSpPr/>
          <p:nvPr/>
        </p:nvSpPr>
        <p:spPr>
          <a:xfrm>
            <a:off x="1170432" y="414223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A Maximal Covering Location Problem, solved with PuLP/OR-Tools, chooses feeder stops that maximize newly-covered underserved population per trunk line — the actual 'AI designs a network' step.</a:t>
            </a:r>
            <a:endParaRPr lang="en-US" sz="1150" dirty="0"/>
          </a:p>
        </p:txBody>
      </p:sp>
      <p:sp>
        <p:nvSpPr>
          <p:cNvPr id="16" name="Shape 14"/>
          <p:cNvSpPr/>
          <p:nvPr/>
        </p:nvSpPr>
        <p:spPr>
          <a:xfrm>
            <a:off x="548640" y="4937760"/>
            <a:ext cx="457200" cy="457200"/>
          </a:xfrm>
          <a:prstGeom prst="ellipse">
            <a:avLst/>
          </a:prstGeom>
          <a:solidFill>
            <a:srgbClr val="1B4332"/>
          </a:solidFill>
          <a:ln/>
        </p:spPr>
      </p:sp>
      <p:sp>
        <p:nvSpPr>
          <p:cNvPr id="17" name="Text 15"/>
          <p:cNvSpPr/>
          <p:nvPr/>
        </p:nvSpPr>
        <p:spPr>
          <a:xfrm>
            <a:off x="548640" y="4937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④</a:t>
            </a:r>
            <a:endParaRPr lang="en-US" sz="1800" dirty="0"/>
          </a:p>
        </p:txBody>
      </p:sp>
      <p:sp>
        <p:nvSpPr>
          <p:cNvPr id="18" name="Text 16"/>
          <p:cNvSpPr/>
          <p:nvPr/>
        </p:nvSpPr>
        <p:spPr>
          <a:xfrm>
            <a:off x="1170432" y="489204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Signal-priority simulation</a:t>
            </a:r>
            <a:endParaRPr lang="en-US" sz="1500" dirty="0"/>
          </a:p>
        </p:txBody>
      </p:sp>
      <p:sp>
        <p:nvSpPr>
          <p:cNvPr id="19" name="Text 17"/>
          <p:cNvSpPr/>
          <p:nvPr/>
        </p:nvSpPr>
        <p:spPr>
          <a:xfrm>
            <a:off x="1170432" y="519379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A SimPy discrete-event simulation runs status-quo vs. proposed (feeder network + rule-based transit signal priority, representing V2X/802.11p) on real roads with real traffic signals.</a:t>
            </a:r>
            <a:endParaRPr lang="en-US" sz="1150" dirty="0"/>
          </a:p>
        </p:txBody>
      </p:sp>
      <p:sp>
        <p:nvSpPr>
          <p:cNvPr id="20" name="Text 1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METHODOLOGY · LAYER A</a:t>
            </a:r>
            <a:endParaRPr lang="en-US" sz="13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Lebanon ReConnect: a graph, not a simulation — on purpose</a:t>
            </a:r>
            <a:endParaRPr lang="en-US" sz="3200" dirty="0"/>
          </a:p>
        </p:txBody>
      </p:sp>
      <p:sp>
        <p:nvSpPr>
          <p:cNvPr id="4" name="Shape 2"/>
          <p:cNvSpPr/>
          <p:nvPr/>
        </p:nvSpPr>
        <p:spPr>
          <a:xfrm>
            <a:off x="548640" y="1783080"/>
            <a:ext cx="457200" cy="457200"/>
          </a:xfrm>
          <a:prstGeom prst="ellipse">
            <a:avLst/>
          </a:prstGeom>
          <a:solidFill>
            <a:srgbClr val="C8102E"/>
          </a:solidFill>
          <a:ln/>
        </p:spPr>
      </p:sp>
      <p:sp>
        <p:nvSpPr>
          <p:cNvPr id="5" name="Text 3"/>
          <p:cNvSpPr/>
          <p:nvPr/>
        </p:nvSpPr>
        <p:spPr>
          <a:xfrm>
            <a:off x="54864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①</a:t>
            </a:r>
            <a:endParaRPr lang="en-US" sz="1800" dirty="0"/>
          </a:p>
        </p:txBody>
      </p:sp>
      <p:sp>
        <p:nvSpPr>
          <p:cNvPr id="6" name="Text 4"/>
          <p:cNvSpPr/>
          <p:nvPr/>
        </p:nvSpPr>
        <p:spPr>
          <a:xfrm>
            <a:off x="1170432" y="173736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18 sourced nodes</a:t>
            </a:r>
            <a:endParaRPr lang="en-US" sz="1500" dirty="0"/>
          </a:p>
        </p:txBody>
      </p:sp>
      <p:sp>
        <p:nvSpPr>
          <p:cNvPr id="7" name="Text 5"/>
          <p:cNvSpPr/>
          <p:nvPr/>
        </p:nvSpPr>
        <p:spPr>
          <a:xfrm>
            <a:off x="1170432" y="203911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5 coastal hub cities, 3 inland hubs/junctions, 2 border crossings, 5 regional cities, 3 ferry destinations — every one tied to a real historic route, a signed agreement, or a dated 2026 launch.</a:t>
            </a:r>
            <a:endParaRPr lang="en-US" sz="1150" dirty="0"/>
          </a:p>
        </p:txBody>
      </p:sp>
      <p:sp>
        <p:nvSpPr>
          <p:cNvPr id="8" name="Shape 6"/>
          <p:cNvSpPr/>
          <p:nvPr/>
        </p:nvSpPr>
        <p:spPr>
          <a:xfrm>
            <a:off x="548640" y="2834640"/>
            <a:ext cx="457200" cy="457200"/>
          </a:xfrm>
          <a:prstGeom prst="ellipse">
            <a:avLst/>
          </a:prstGeom>
          <a:solidFill>
            <a:srgbClr val="C8102E"/>
          </a:solidFill>
          <a:ln/>
        </p:spPr>
      </p:sp>
      <p:sp>
        <p:nvSpPr>
          <p:cNvPr id="9" name="Text 7"/>
          <p:cNvSpPr/>
          <p:nvPr/>
        </p:nvSpPr>
        <p:spPr>
          <a:xfrm>
            <a:off x="54864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②</a:t>
            </a:r>
            <a:endParaRPr lang="en-US" sz="1800" dirty="0"/>
          </a:p>
        </p:txBody>
      </p:sp>
      <p:sp>
        <p:nvSpPr>
          <p:cNvPr id="10" name="Text 8"/>
          <p:cNvSpPr/>
          <p:nvPr/>
        </p:nvSpPr>
        <p:spPr>
          <a:xfrm>
            <a:off x="1170432" y="278892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18 sourced edges, 2 states</a:t>
            </a:r>
            <a:endParaRPr lang="en-US" sz="1500" dirty="0"/>
          </a:p>
        </p:txBody>
      </p:sp>
      <p:sp>
        <p:nvSpPr>
          <p:cNvPr id="11" name="Text 9"/>
          <p:cNvSpPr/>
          <p:nvPr/>
        </p:nvSpPr>
        <p:spPr>
          <a:xfrm>
            <a:off x="1170432" y="309067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Status-quo (today's formal buses + informal links, 7 edges) vs. proposed (+ historic-dormant rail, the Arab Mashreq Railway, the Hejaz Railway revival, the Jounieh ferry — 18 edges).</a:t>
            </a:r>
            <a:endParaRPr lang="en-US" sz="1150" dirty="0"/>
          </a:p>
        </p:txBody>
      </p:sp>
      <p:sp>
        <p:nvSpPr>
          <p:cNvPr id="12" name="Shape 10"/>
          <p:cNvSpPr/>
          <p:nvPr/>
        </p:nvSpPr>
        <p:spPr>
          <a:xfrm>
            <a:off x="548640" y="3886200"/>
            <a:ext cx="457200" cy="457200"/>
          </a:xfrm>
          <a:prstGeom prst="ellipse">
            <a:avLst/>
          </a:prstGeom>
          <a:solidFill>
            <a:srgbClr val="C8102E"/>
          </a:solidFill>
          <a:ln/>
        </p:spPr>
      </p:sp>
      <p:sp>
        <p:nvSpPr>
          <p:cNvPr id="13" name="Text 11"/>
          <p:cNvSpPr/>
          <p:nvPr/>
        </p:nvSpPr>
        <p:spPr>
          <a:xfrm>
            <a:off x="548640" y="3886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③</a:t>
            </a:r>
            <a:endParaRPr lang="en-US" sz="1800" dirty="0"/>
          </a:p>
        </p:txBody>
      </p:sp>
      <p:sp>
        <p:nvSpPr>
          <p:cNvPr id="14" name="Text 12"/>
          <p:cNvSpPr/>
          <p:nvPr/>
        </p:nvSpPr>
        <p:spPr>
          <a:xfrm>
            <a:off x="1170432" y="384048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Betweenness &amp; closeness centrality</a:t>
            </a:r>
            <a:endParaRPr lang="en-US" sz="1500" dirty="0"/>
          </a:p>
        </p:txBody>
      </p:sp>
      <p:sp>
        <p:nvSpPr>
          <p:cNvPr id="15" name="Text 13"/>
          <p:cNvSpPr/>
          <p:nvPr/>
        </p:nvSpPr>
        <p:spPr>
          <a:xfrm>
            <a:off x="1170432" y="414223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NetworkX computes both, weighted by great-circle distance, on each graph — quantifying Beirut's structural role rather than just asserting it.</a:t>
            </a:r>
            <a:endParaRPr lang="en-US" sz="1150" dirty="0"/>
          </a:p>
        </p:txBody>
      </p:sp>
      <p:sp>
        <p:nvSpPr>
          <p:cNvPr id="16" name="Shape 14"/>
          <p:cNvSpPr/>
          <p:nvPr/>
        </p:nvSpPr>
        <p:spPr>
          <a:xfrm>
            <a:off x="548640" y="4937760"/>
            <a:ext cx="457200" cy="457200"/>
          </a:xfrm>
          <a:prstGeom prst="ellipse">
            <a:avLst/>
          </a:prstGeom>
          <a:solidFill>
            <a:srgbClr val="C8102E"/>
          </a:solidFill>
          <a:ln/>
        </p:spPr>
      </p:sp>
      <p:sp>
        <p:nvSpPr>
          <p:cNvPr id="17" name="Text 15"/>
          <p:cNvSpPr/>
          <p:nvPr/>
        </p:nvSpPr>
        <p:spPr>
          <a:xfrm>
            <a:off x="548640" y="4937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④</a:t>
            </a:r>
            <a:endParaRPr lang="en-US" sz="1800" dirty="0"/>
          </a:p>
        </p:txBody>
      </p:sp>
      <p:sp>
        <p:nvSpPr>
          <p:cNvPr id="18" name="Text 16"/>
          <p:cNvSpPr/>
          <p:nvPr/>
        </p:nvSpPr>
        <p:spPr>
          <a:xfrm>
            <a:off x="1170432" y="489204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Compare, don't assume</a:t>
            </a:r>
            <a:endParaRPr lang="en-US" sz="1500" dirty="0"/>
          </a:p>
        </p:txBody>
      </p:sp>
      <p:sp>
        <p:nvSpPr>
          <p:cNvPr id="19" name="Text 17"/>
          <p:cNvSpPr/>
          <p:nvPr/>
        </p:nvSpPr>
        <p:spPr>
          <a:xfrm>
            <a:off x="1170432" y="519379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Every number is a real before/after delta from the actual computed graphs — including a negative, counter-intuitive result kept and explained, not hidden (see Results).</a:t>
            </a:r>
            <a:endParaRPr lang="en-US" sz="1150" dirty="0"/>
          </a:p>
        </p:txBody>
      </p:sp>
      <p:sp>
        <p:nvSpPr>
          <p:cNvPr id="20" name="Text 1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3A45"/>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FEAE3"/>
                </a:solidFill>
                <a:latin typeface="Calibri" pitchFamily="34" charset="0"/>
                <a:ea typeface="Calibri" pitchFamily="34" charset="-122"/>
                <a:cs typeface="Calibri" pitchFamily="34" charset="-120"/>
              </a:rPr>
              <a:t>TECHNICAL BUILDING</a:t>
            </a:r>
            <a:endParaRPr lang="en-US" sz="13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stack</a:t>
            </a:r>
            <a:endParaRPr lang="en-US" sz="3200" dirty="0"/>
          </a:p>
        </p:txBody>
      </p:sp>
      <p:sp>
        <p:nvSpPr>
          <p:cNvPr id="4" name="Shape 2"/>
          <p:cNvSpPr/>
          <p:nvPr/>
        </p:nvSpPr>
        <p:spPr>
          <a:xfrm>
            <a:off x="640080" y="1828800"/>
            <a:ext cx="3520440" cy="1188720"/>
          </a:xfrm>
          <a:prstGeom prst="roundRect">
            <a:avLst>
              <a:gd name="adj" fmla="val 6154"/>
            </a:avLst>
          </a:prstGeom>
          <a:solidFill>
            <a:srgbClr val="133F41"/>
          </a:solidFill>
          <a:ln/>
        </p:spPr>
      </p:sp>
      <p:sp>
        <p:nvSpPr>
          <p:cNvPr id="5" name="Text 3"/>
          <p:cNvSpPr/>
          <p:nvPr/>
        </p:nvSpPr>
        <p:spPr>
          <a:xfrm>
            <a:off x="868680" y="20116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GeoPandas / Shapely</a:t>
            </a:r>
            <a:endParaRPr lang="en-US" sz="1500" dirty="0"/>
          </a:p>
        </p:txBody>
      </p:sp>
      <p:sp>
        <p:nvSpPr>
          <p:cNvPr id="6" name="Text 4"/>
          <p:cNvSpPr/>
          <p:nvPr/>
        </p:nvSpPr>
        <p:spPr>
          <a:xfrm>
            <a:off x="868680" y="24505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Geospatial data wrangling</a:t>
            </a:r>
            <a:endParaRPr lang="en-US" sz="1100" dirty="0"/>
          </a:p>
        </p:txBody>
      </p:sp>
      <p:sp>
        <p:nvSpPr>
          <p:cNvPr id="7" name="Shape 5"/>
          <p:cNvSpPr/>
          <p:nvPr/>
        </p:nvSpPr>
        <p:spPr>
          <a:xfrm>
            <a:off x="4297680" y="1828800"/>
            <a:ext cx="3520440" cy="1188720"/>
          </a:xfrm>
          <a:prstGeom prst="roundRect">
            <a:avLst>
              <a:gd name="adj" fmla="val 6154"/>
            </a:avLst>
          </a:prstGeom>
          <a:solidFill>
            <a:srgbClr val="133F41"/>
          </a:solidFill>
          <a:ln/>
        </p:spPr>
      </p:sp>
      <p:sp>
        <p:nvSpPr>
          <p:cNvPr id="8" name="Text 6"/>
          <p:cNvSpPr/>
          <p:nvPr/>
        </p:nvSpPr>
        <p:spPr>
          <a:xfrm>
            <a:off x="4526280" y="20116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OSMnx</a:t>
            </a:r>
            <a:endParaRPr lang="en-US" sz="1500" dirty="0"/>
          </a:p>
        </p:txBody>
      </p:sp>
      <p:sp>
        <p:nvSpPr>
          <p:cNvPr id="9" name="Text 7"/>
          <p:cNvSpPr/>
          <p:nvPr/>
        </p:nvSpPr>
        <p:spPr>
          <a:xfrm>
            <a:off x="4526280" y="24505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Real road &amp; walk networks</a:t>
            </a:r>
            <a:endParaRPr lang="en-US" sz="1100" dirty="0"/>
          </a:p>
        </p:txBody>
      </p:sp>
      <p:sp>
        <p:nvSpPr>
          <p:cNvPr id="10" name="Shape 8"/>
          <p:cNvSpPr/>
          <p:nvPr/>
        </p:nvSpPr>
        <p:spPr>
          <a:xfrm>
            <a:off x="7955280" y="1828800"/>
            <a:ext cx="3520440" cy="1188720"/>
          </a:xfrm>
          <a:prstGeom prst="roundRect">
            <a:avLst>
              <a:gd name="adj" fmla="val 6154"/>
            </a:avLst>
          </a:prstGeom>
          <a:solidFill>
            <a:srgbClr val="133F41"/>
          </a:solidFill>
          <a:ln/>
        </p:spPr>
      </p:sp>
      <p:sp>
        <p:nvSpPr>
          <p:cNvPr id="11" name="Text 9"/>
          <p:cNvSpPr/>
          <p:nvPr/>
        </p:nvSpPr>
        <p:spPr>
          <a:xfrm>
            <a:off x="8183880" y="20116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H3</a:t>
            </a:r>
            <a:endParaRPr lang="en-US" sz="1500" dirty="0"/>
          </a:p>
        </p:txBody>
      </p:sp>
      <p:sp>
        <p:nvSpPr>
          <p:cNvPr id="12" name="Text 10"/>
          <p:cNvSpPr/>
          <p:nvPr/>
        </p:nvSpPr>
        <p:spPr>
          <a:xfrm>
            <a:off x="8183880" y="24505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Uber's hex-grid spatial index</a:t>
            </a:r>
            <a:endParaRPr lang="en-US" sz="1100" dirty="0"/>
          </a:p>
        </p:txBody>
      </p:sp>
      <p:sp>
        <p:nvSpPr>
          <p:cNvPr id="13" name="Shape 11"/>
          <p:cNvSpPr/>
          <p:nvPr/>
        </p:nvSpPr>
        <p:spPr>
          <a:xfrm>
            <a:off x="640080" y="3200400"/>
            <a:ext cx="3520440" cy="1188720"/>
          </a:xfrm>
          <a:prstGeom prst="roundRect">
            <a:avLst>
              <a:gd name="adj" fmla="val 6154"/>
            </a:avLst>
          </a:prstGeom>
          <a:solidFill>
            <a:srgbClr val="133F41"/>
          </a:solidFill>
          <a:ln/>
        </p:spPr>
      </p:sp>
      <p:sp>
        <p:nvSpPr>
          <p:cNvPr id="14" name="Text 12"/>
          <p:cNvSpPr/>
          <p:nvPr/>
        </p:nvSpPr>
        <p:spPr>
          <a:xfrm>
            <a:off x="868680" y="33832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PuLP / OR-Tools</a:t>
            </a:r>
            <a:endParaRPr lang="en-US" sz="1500" dirty="0"/>
          </a:p>
        </p:txBody>
      </p:sp>
      <p:sp>
        <p:nvSpPr>
          <p:cNvPr id="15" name="Text 13"/>
          <p:cNvSpPr/>
          <p:nvPr/>
        </p:nvSpPr>
        <p:spPr>
          <a:xfrm>
            <a:off x="868680" y="38221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MCLP optimization solvers</a:t>
            </a:r>
            <a:endParaRPr lang="en-US" sz="1100" dirty="0"/>
          </a:p>
        </p:txBody>
      </p:sp>
      <p:sp>
        <p:nvSpPr>
          <p:cNvPr id="16" name="Shape 14"/>
          <p:cNvSpPr/>
          <p:nvPr/>
        </p:nvSpPr>
        <p:spPr>
          <a:xfrm>
            <a:off x="4297680" y="3200400"/>
            <a:ext cx="3520440" cy="1188720"/>
          </a:xfrm>
          <a:prstGeom prst="roundRect">
            <a:avLst>
              <a:gd name="adj" fmla="val 6154"/>
            </a:avLst>
          </a:prstGeom>
          <a:solidFill>
            <a:srgbClr val="133F41"/>
          </a:solidFill>
          <a:ln/>
        </p:spPr>
      </p:sp>
      <p:sp>
        <p:nvSpPr>
          <p:cNvPr id="17" name="Text 15"/>
          <p:cNvSpPr/>
          <p:nvPr/>
        </p:nvSpPr>
        <p:spPr>
          <a:xfrm>
            <a:off x="4526280" y="33832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NetworkX</a:t>
            </a:r>
            <a:endParaRPr lang="en-US" sz="1500" dirty="0"/>
          </a:p>
        </p:txBody>
      </p:sp>
      <p:sp>
        <p:nvSpPr>
          <p:cNvPr id="18" name="Text 16"/>
          <p:cNvSpPr/>
          <p:nvPr/>
        </p:nvSpPr>
        <p:spPr>
          <a:xfrm>
            <a:off x="4526280" y="38221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Graph algorithms &amp; centrality</a:t>
            </a:r>
            <a:endParaRPr lang="en-US" sz="1100" dirty="0"/>
          </a:p>
        </p:txBody>
      </p:sp>
      <p:sp>
        <p:nvSpPr>
          <p:cNvPr id="19" name="Shape 17"/>
          <p:cNvSpPr/>
          <p:nvPr/>
        </p:nvSpPr>
        <p:spPr>
          <a:xfrm>
            <a:off x="7955280" y="3200400"/>
            <a:ext cx="3520440" cy="1188720"/>
          </a:xfrm>
          <a:prstGeom prst="roundRect">
            <a:avLst>
              <a:gd name="adj" fmla="val 6154"/>
            </a:avLst>
          </a:prstGeom>
          <a:solidFill>
            <a:srgbClr val="133F41"/>
          </a:solidFill>
          <a:ln/>
        </p:spPr>
      </p:sp>
      <p:sp>
        <p:nvSpPr>
          <p:cNvPr id="20" name="Text 18"/>
          <p:cNvSpPr/>
          <p:nvPr/>
        </p:nvSpPr>
        <p:spPr>
          <a:xfrm>
            <a:off x="8183880" y="33832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SimPy</a:t>
            </a:r>
            <a:endParaRPr lang="en-US" sz="1500" dirty="0"/>
          </a:p>
        </p:txBody>
      </p:sp>
      <p:sp>
        <p:nvSpPr>
          <p:cNvPr id="21" name="Text 19"/>
          <p:cNvSpPr/>
          <p:nvPr/>
        </p:nvSpPr>
        <p:spPr>
          <a:xfrm>
            <a:off x="8183880" y="38221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Discrete-event traffic simulation</a:t>
            </a:r>
            <a:endParaRPr lang="en-US" sz="1100" dirty="0"/>
          </a:p>
        </p:txBody>
      </p:sp>
      <p:sp>
        <p:nvSpPr>
          <p:cNvPr id="22" name="Shape 20"/>
          <p:cNvSpPr/>
          <p:nvPr/>
        </p:nvSpPr>
        <p:spPr>
          <a:xfrm>
            <a:off x="640080" y="4572000"/>
            <a:ext cx="3520440" cy="1188720"/>
          </a:xfrm>
          <a:prstGeom prst="roundRect">
            <a:avLst>
              <a:gd name="adj" fmla="val 6154"/>
            </a:avLst>
          </a:prstGeom>
          <a:solidFill>
            <a:srgbClr val="133F41"/>
          </a:solidFill>
          <a:ln/>
        </p:spPr>
      </p:sp>
      <p:sp>
        <p:nvSpPr>
          <p:cNvPr id="23" name="Text 21"/>
          <p:cNvSpPr/>
          <p:nvPr/>
        </p:nvSpPr>
        <p:spPr>
          <a:xfrm>
            <a:off x="868680" y="47548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Folium</a:t>
            </a:r>
            <a:endParaRPr lang="en-US" sz="1500" dirty="0"/>
          </a:p>
        </p:txBody>
      </p:sp>
      <p:sp>
        <p:nvSpPr>
          <p:cNvPr id="24" name="Text 22"/>
          <p:cNvSpPr/>
          <p:nvPr/>
        </p:nvSpPr>
        <p:spPr>
          <a:xfrm>
            <a:off x="868680" y="51937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Interactive Leaflet maps</a:t>
            </a:r>
            <a:endParaRPr lang="en-US" sz="1100" dirty="0"/>
          </a:p>
        </p:txBody>
      </p:sp>
      <p:sp>
        <p:nvSpPr>
          <p:cNvPr id="25" name="Shape 23"/>
          <p:cNvSpPr/>
          <p:nvPr/>
        </p:nvSpPr>
        <p:spPr>
          <a:xfrm>
            <a:off x="4297680" y="4572000"/>
            <a:ext cx="3520440" cy="1188720"/>
          </a:xfrm>
          <a:prstGeom prst="roundRect">
            <a:avLst>
              <a:gd name="adj" fmla="val 6154"/>
            </a:avLst>
          </a:prstGeom>
          <a:solidFill>
            <a:srgbClr val="133F41"/>
          </a:solidFill>
          <a:ln/>
        </p:spPr>
      </p:sp>
      <p:sp>
        <p:nvSpPr>
          <p:cNvPr id="26" name="Text 24"/>
          <p:cNvSpPr/>
          <p:nvPr/>
        </p:nvSpPr>
        <p:spPr>
          <a:xfrm>
            <a:off x="4526280" y="47548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Matplotlib</a:t>
            </a:r>
            <a:endParaRPr lang="en-US" sz="1500" dirty="0"/>
          </a:p>
        </p:txBody>
      </p:sp>
      <p:sp>
        <p:nvSpPr>
          <p:cNvPr id="27" name="Text 25"/>
          <p:cNvSpPr/>
          <p:nvPr/>
        </p:nvSpPr>
        <p:spPr>
          <a:xfrm>
            <a:off x="4526280" y="51937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Static charts &amp; diagrams</a:t>
            </a:r>
            <a:endParaRPr lang="en-US" sz="1100" dirty="0"/>
          </a:p>
        </p:txBody>
      </p:sp>
      <p:sp>
        <p:nvSpPr>
          <p:cNvPr id="28" name="Shape 26"/>
          <p:cNvSpPr/>
          <p:nvPr/>
        </p:nvSpPr>
        <p:spPr>
          <a:xfrm>
            <a:off x="7955280" y="4572000"/>
            <a:ext cx="3520440" cy="1188720"/>
          </a:xfrm>
          <a:prstGeom prst="roundRect">
            <a:avLst>
              <a:gd name="adj" fmla="val 6154"/>
            </a:avLst>
          </a:prstGeom>
          <a:solidFill>
            <a:srgbClr val="133F41"/>
          </a:solidFill>
          <a:ln/>
        </p:spPr>
      </p:sp>
      <p:sp>
        <p:nvSpPr>
          <p:cNvPr id="29" name="Text 27"/>
          <p:cNvSpPr/>
          <p:nvPr/>
        </p:nvSpPr>
        <p:spPr>
          <a:xfrm>
            <a:off x="8183880" y="475488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Nominatim / OSM</a:t>
            </a:r>
            <a:endParaRPr lang="en-US" sz="1500" dirty="0"/>
          </a:p>
        </p:txBody>
      </p:sp>
      <p:sp>
        <p:nvSpPr>
          <p:cNvPr id="30" name="Text 28"/>
          <p:cNvSpPr/>
          <p:nvPr/>
        </p:nvSpPr>
        <p:spPr>
          <a:xfrm>
            <a:off x="8183880" y="5193792"/>
            <a:ext cx="3063240" cy="457200"/>
          </a:xfrm>
          <a:prstGeom prst="rect">
            <a:avLst/>
          </a:prstGeom>
          <a:noFill/>
          <a:ln/>
        </p:spPr>
        <p:txBody>
          <a:bodyPr wrap="square" lIns="0" tIns="0" rIns="0" bIns="0" rtlCol="0" anchor="ctr"/>
          <a:lstStyle/>
          <a:p>
            <a:pPr indent="0" marL="0">
              <a:buNone/>
            </a:pPr>
            <a:r>
              <a:rPr lang="en-US" sz="1100" dirty="0">
                <a:solidFill>
                  <a:srgbClr val="CFEAE3"/>
                </a:solidFill>
                <a:latin typeface="Calibri" pitchFamily="34" charset="0"/>
                <a:ea typeface="Calibri" pitchFamily="34" charset="-122"/>
                <a:cs typeface="Calibri" pitchFamily="34" charset="-120"/>
              </a:rPr>
              <a:t>Real-world geocoding</a:t>
            </a:r>
            <a:endParaRPr lang="en-US" sz="1100" dirty="0"/>
          </a:p>
        </p:txBody>
      </p:sp>
      <p:sp>
        <p:nvSpPr>
          <p:cNvPr id="31" name="Text 29"/>
          <p:cNvSpPr/>
          <p:nvPr/>
        </p:nvSpPr>
        <p:spPr>
          <a:xfrm>
            <a:off x="640080" y="6263640"/>
            <a:ext cx="10881360" cy="365760"/>
          </a:xfrm>
          <a:prstGeom prst="rect">
            <a:avLst/>
          </a:prstGeom>
          <a:noFill/>
          <a:ln/>
        </p:spPr>
        <p:txBody>
          <a:bodyPr wrap="square" lIns="0" tIns="0" rIns="0" bIns="0" rtlCol="0" anchor="ctr"/>
          <a:lstStyle/>
          <a:p>
            <a:pPr indent="0" marL="0">
              <a:buNone/>
            </a:pPr>
            <a:r>
              <a:rPr lang="en-US" sz="1200" i="1" dirty="0">
                <a:solidFill>
                  <a:srgbClr val="CFEAE3"/>
                </a:solidFill>
                <a:latin typeface="Calibri" pitchFamily="34" charset="0"/>
                <a:ea typeface="Calibri" pitchFamily="34" charset="-122"/>
                <a:cs typeface="Calibri" pitchFamily="34" charset="-120"/>
              </a:rPr>
              <a:t>Python 3.14 · pytest (16/16 passing) · one-command reproducible pipeline (run_pipeline.py)</a:t>
            </a:r>
            <a:endParaRPr lang="en-US" sz="1200" dirty="0"/>
          </a:p>
        </p:txBody>
      </p:sp>
      <p:sp>
        <p:nvSpPr>
          <p:cNvPr id="32" name="Text 30"/>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RESULTS · LAYER B</a:t>
            </a:r>
            <a:endParaRPr lang="en-US" sz="1300" dirty="0"/>
          </a:p>
        </p:txBody>
      </p:sp>
      <p:sp>
        <p:nvSpPr>
          <p:cNvPr id="3" name="Text 1"/>
          <p:cNvSpPr/>
          <p:nvPr/>
        </p:nvSpPr>
        <p:spPr>
          <a:xfrm>
            <a:off x="548640" y="658368"/>
            <a:ext cx="1115568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GBA-wide accessibility, before and after</a:t>
            </a:r>
            <a:endParaRPr lang="en-US" sz="3200" dirty="0"/>
          </a:p>
        </p:txBody>
      </p:sp>
      <p:pic>
        <p:nvPicPr>
          <p:cNvPr id="4" name="Image 0" descr="/sessions/sharp-serene-curie/mnt/outputs/pptx_build/layerB_citywide_accessibility.png">    </p:cNvPr>
          <p:cNvPicPr>
            <a:picLocks noChangeAspect="1"/>
          </p:cNvPicPr>
          <p:nvPr/>
        </p:nvPicPr>
        <p:blipFill>
          <a:blip r:embed="rId1"/>
          <a:srcRect l="0" r="0" t="0" b="0"/>
          <a:stretch/>
        </p:blipFill>
        <p:spPr>
          <a:xfrm>
            <a:off x="548640" y="1691640"/>
            <a:ext cx="6400800" cy="4352544"/>
          </a:xfrm>
          <a:prstGeom prst="rect">
            <a:avLst/>
          </a:prstGeom>
        </p:spPr>
      </p:pic>
      <p:sp>
        <p:nvSpPr>
          <p:cNvPr id="5" name="Text 2"/>
          <p:cNvSpPr/>
          <p:nvPr/>
        </p:nvSpPr>
        <p:spPr>
          <a:xfrm>
            <a:off x="7315200" y="2194560"/>
            <a:ext cx="4389120" cy="822960"/>
          </a:xfrm>
          <a:prstGeom prst="rect">
            <a:avLst/>
          </a:prstGeom>
          <a:noFill/>
          <a:ln/>
        </p:spPr>
        <p:txBody>
          <a:bodyPr wrap="square" lIns="0" tIns="0" rIns="0" bIns="0" rtlCol="0" anchor="ctr"/>
          <a:lstStyle/>
          <a:p>
            <a:pPr algn="ctr" indent="0" marL="0">
              <a:buNone/>
            </a:pPr>
            <a:r>
              <a:rPr lang="en-US" sz="4400" b="1" dirty="0">
                <a:solidFill>
                  <a:srgbClr val="C8102E"/>
                </a:solidFill>
                <a:latin typeface="Cambria" pitchFamily="34" charset="0"/>
                <a:ea typeface="Cambria" pitchFamily="34" charset="-122"/>
                <a:cs typeface="Cambria" pitchFamily="34" charset="-120"/>
              </a:rPr>
              <a:t>92.2% → 97.4%</a:t>
            </a:r>
            <a:endParaRPr lang="en-US" sz="4400" dirty="0"/>
          </a:p>
        </p:txBody>
      </p:sp>
      <p:sp>
        <p:nvSpPr>
          <p:cNvPr id="6" name="Text 3"/>
          <p:cNvSpPr/>
          <p:nvPr/>
        </p:nvSpPr>
        <p:spPr>
          <a:xfrm>
            <a:off x="7315200" y="2971800"/>
            <a:ext cx="4389120" cy="502920"/>
          </a:xfrm>
          <a:prstGeom prst="rect">
            <a:avLst/>
          </a:prstGeom>
          <a:noFill/>
          <a:ln/>
        </p:spPr>
        <p:txBody>
          <a:bodyPr wrap="square" lIns="0" tIns="0" rIns="0" bIns="0" rtlCol="0" anchor="ctr"/>
          <a:lstStyle/>
          <a:p>
            <a:pPr algn="ctr" indent="0" marL="0">
              <a:buNone/>
            </a:pPr>
            <a:r>
              <a:rPr lang="en-US" sz="1200" dirty="0">
                <a:solidFill>
                  <a:srgbClr val="5B6B6B"/>
                </a:solidFill>
                <a:latin typeface="Calibri" pitchFamily="34" charset="0"/>
                <a:ea typeface="Calibri" pitchFamily="34" charset="-122"/>
                <a:cs typeface="Calibri" pitchFamily="34" charset="-120"/>
              </a:rPr>
              <a:t>of GBA population within reach of a stop</a:t>
            </a:r>
            <a:endParaRPr lang="en-US" sz="1200" dirty="0"/>
          </a:p>
        </p:txBody>
      </p:sp>
      <p:sp>
        <p:nvSpPr>
          <p:cNvPr id="7" name="Text 4"/>
          <p:cNvSpPr/>
          <p:nvPr/>
        </p:nvSpPr>
        <p:spPr>
          <a:xfrm>
            <a:off x="7315200" y="3749040"/>
            <a:ext cx="4389120" cy="21031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The AI-designed feeder network reaches 156,594 additional people beyond the walk-only baseline — a real, computed number from the MCLP output, not an estimate.</a:t>
            </a:r>
            <a:endParaRPr lang="en-US" sz="1250" dirty="0"/>
          </a:p>
        </p:txBody>
      </p:sp>
      <p:sp>
        <p:nvSpPr>
          <p:cNvPr id="8" name="Text 5"/>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RESULTS · LAYER B</a:t>
            </a:r>
            <a:endParaRPr lang="en-US" sz="1300" dirty="0"/>
          </a:p>
        </p:txBody>
      </p:sp>
      <p:sp>
        <p:nvSpPr>
          <p:cNvPr id="3" name="Text 1"/>
          <p:cNvSpPr/>
          <p:nvPr/>
        </p:nvSpPr>
        <p:spPr>
          <a:xfrm>
            <a:off x="548640" y="658368"/>
            <a:ext cx="1115568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Does the proposed system actually work? (simulated)</a:t>
            </a:r>
            <a:endParaRPr lang="en-US" sz="3200" dirty="0"/>
          </a:p>
        </p:txBody>
      </p:sp>
      <p:pic>
        <p:nvPicPr>
          <p:cNvPr id="4" name="Image 0" descr="/sessions/sharp-serene-curie/mnt/outputs/pptx_build/layerB_simulated_trip_completion.png">    </p:cNvPr>
          <p:cNvPicPr>
            <a:picLocks noChangeAspect="1"/>
          </p:cNvPicPr>
          <p:nvPr/>
        </p:nvPicPr>
        <p:blipFill>
          <a:blip r:embed="rId1"/>
          <a:srcRect l="0" r="0" t="0" b="0"/>
          <a:stretch/>
        </p:blipFill>
        <p:spPr>
          <a:xfrm>
            <a:off x="548640" y="1691640"/>
            <a:ext cx="6766560" cy="4601261"/>
          </a:xfrm>
          <a:prstGeom prst="rect">
            <a:avLst/>
          </a:prstGeom>
        </p:spPr>
      </p:pic>
      <p:sp>
        <p:nvSpPr>
          <p:cNvPr id="5" name="Text 2"/>
          <p:cNvSpPr/>
          <p:nvPr/>
        </p:nvSpPr>
        <p:spPr>
          <a:xfrm>
            <a:off x="7680960" y="2194560"/>
            <a:ext cx="4023360" cy="822960"/>
          </a:xfrm>
          <a:prstGeom prst="rect">
            <a:avLst/>
          </a:prstGeom>
          <a:noFill/>
          <a:ln/>
        </p:spPr>
        <p:txBody>
          <a:bodyPr wrap="square" lIns="0" tIns="0" rIns="0" bIns="0" rtlCol="0" anchor="ctr"/>
          <a:lstStyle/>
          <a:p>
            <a:pPr algn="ctr" indent="0" marL="0">
              <a:buNone/>
            </a:pPr>
            <a:r>
              <a:rPr lang="en-US" sz="4400" b="1" dirty="0">
                <a:solidFill>
                  <a:srgbClr val="C8102E"/>
                </a:solidFill>
                <a:latin typeface="Cambria" pitchFamily="34" charset="0"/>
                <a:ea typeface="Cambria" pitchFamily="34" charset="-122"/>
                <a:cs typeface="Cambria" pitchFamily="34" charset="-120"/>
              </a:rPr>
              <a:t>0% → 91.9%</a:t>
            </a:r>
            <a:endParaRPr lang="en-US" sz="4400" dirty="0"/>
          </a:p>
        </p:txBody>
      </p:sp>
      <p:sp>
        <p:nvSpPr>
          <p:cNvPr id="6" name="Text 3"/>
          <p:cNvSpPr/>
          <p:nvPr/>
        </p:nvSpPr>
        <p:spPr>
          <a:xfrm>
            <a:off x="7680960" y="2971800"/>
            <a:ext cx="4023360" cy="502920"/>
          </a:xfrm>
          <a:prstGeom prst="rect">
            <a:avLst/>
          </a:prstGeom>
          <a:noFill/>
          <a:ln/>
        </p:spPr>
        <p:txBody>
          <a:bodyPr wrap="square" lIns="0" tIns="0" rIns="0" bIns="0" rtlCol="0" anchor="ctr"/>
          <a:lstStyle/>
          <a:p>
            <a:pPr algn="ctr" indent="0" marL="0">
              <a:buNone/>
            </a:pPr>
            <a:r>
              <a:rPr lang="en-US" sz="1200" dirty="0">
                <a:solidFill>
                  <a:srgbClr val="5B6B6B"/>
                </a:solidFill>
                <a:latin typeface="Calibri" pitchFamily="34" charset="0"/>
                <a:ea typeface="Calibri" pitchFamily="34" charset="-122"/>
                <a:cs typeface="Calibri" pitchFamily="34" charset="-120"/>
              </a:rPr>
              <a:t>simulated trip completion, previously-uncovered riders</a:t>
            </a:r>
            <a:endParaRPr lang="en-US" sz="1200" dirty="0"/>
          </a:p>
        </p:txBody>
      </p:sp>
      <p:sp>
        <p:nvSpPr>
          <p:cNvPr id="7" name="Text 4"/>
          <p:cNvSpPr/>
          <p:nvPr/>
        </p:nvSpPr>
        <p:spPr>
          <a:xfrm>
            <a:off x="7680960" y="3749040"/>
            <a:ext cx="4023360" cy="21031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Distinct from the accessibility number: this is trip completion inside the SimPy simulation, among riders who had literally no route before. Average simulated door-to-door time: ~162 minutes (pulled up by one genuinely long ~4.4hr intercity corridor, ML1 — a real long-haul trunk, not a bug).</a:t>
            </a:r>
            <a:endParaRPr lang="en-US" sz="1250" dirty="0"/>
          </a:p>
        </p:txBody>
      </p:sp>
      <p:sp>
        <p:nvSpPr>
          <p:cNvPr id="8" name="Text 5"/>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RESULTS · LAYER B</a:t>
            </a:r>
            <a:endParaRPr lang="en-US" sz="1300" dirty="0"/>
          </a:p>
        </p:txBody>
      </p:sp>
      <p:sp>
        <p:nvSpPr>
          <p:cNvPr id="3" name="Text 1"/>
          <p:cNvSpPr/>
          <p:nvPr/>
        </p:nvSpPr>
        <p:spPr>
          <a:xfrm>
            <a:off x="548640" y="658368"/>
            <a:ext cx="1115568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Per-line results: coverage gain and trunk speed</a:t>
            </a:r>
            <a:endParaRPr lang="en-US" sz="3200" dirty="0"/>
          </a:p>
        </p:txBody>
      </p:sp>
      <p:pic>
        <p:nvPicPr>
          <p:cNvPr id="4" name="Image 0" descr="/sessions/sharp-serene-curie/mnt/outputs/pptx_build/layerB_coverage_gain_per_line.png">    </p:cNvPr>
          <p:cNvPicPr>
            <a:picLocks noChangeAspect="1"/>
          </p:cNvPicPr>
          <p:nvPr/>
        </p:nvPicPr>
        <p:blipFill>
          <a:blip r:embed="rId1"/>
          <a:srcRect l="0" r="0" t="0" b="0"/>
          <a:stretch/>
        </p:blipFill>
        <p:spPr>
          <a:xfrm>
            <a:off x="457200" y="1691640"/>
            <a:ext cx="5577840" cy="3792931"/>
          </a:xfrm>
          <a:prstGeom prst="rect">
            <a:avLst/>
          </a:prstGeom>
        </p:spPr>
      </p:pic>
      <p:pic>
        <p:nvPicPr>
          <p:cNvPr id="5" name="Image 1" descr="/sessions/sharp-serene-curie/mnt/outputs/pptx_build/layerB_trunk_speed_per_line.png">    </p:cNvPr>
          <p:cNvPicPr>
            <a:picLocks noChangeAspect="1"/>
          </p:cNvPicPr>
          <p:nvPr/>
        </p:nvPicPr>
        <p:blipFill>
          <a:blip r:embed="rId2"/>
          <a:srcRect l="0" r="0" t="0" b="0"/>
          <a:stretch/>
        </p:blipFill>
        <p:spPr>
          <a:xfrm>
            <a:off x="6217920" y="1691640"/>
            <a:ext cx="5577840" cy="3792931"/>
          </a:xfrm>
          <a:prstGeom prst="rect">
            <a:avLst/>
          </a:prstGeom>
        </p:spPr>
      </p:pic>
      <p:sp>
        <p:nvSpPr>
          <p:cNvPr id="6" name="Text 2"/>
          <p:cNvSpPr/>
          <p:nvPr/>
        </p:nvSpPr>
        <p:spPr>
          <a:xfrm>
            <a:off x="457200" y="5623560"/>
            <a:ext cx="11338560" cy="914400"/>
          </a:xfrm>
          <a:prstGeom prst="rect">
            <a:avLst/>
          </a:prstGeom>
          <a:noFill/>
          <a:ln/>
        </p:spPr>
        <p:txBody>
          <a:bodyPr wrap="square" lIns="0" tIns="0" rIns="0" bIns="0" rtlCol="0" anchor="ctr"/>
          <a:lstStyle/>
          <a:p>
            <a:pPr indent="0" marL="0">
              <a:buNone/>
            </a:pPr>
            <a:r>
              <a:rPr lang="en-US" sz="1200" dirty="0">
                <a:solidFill>
                  <a:srgbClr val="5B6B6B"/>
                </a:solidFill>
                <a:latin typeface="Calibri" pitchFamily="34" charset="0"/>
                <a:ea typeface="Calibri" pitchFamily="34" charset="-122"/>
                <a:cs typeface="Calibri" pitchFamily="34" charset="-120"/>
              </a:rPr>
              <a:t>22 feeder stops across 7 lines · 68.4% (156,594 / 228,965) of underserved population newly covered · signal priority gives small, real speed gains where corridors actually have OSM-tagged traffic signals to act on (B3, B4 most; B6-ML2 and ML1 unchanged because their corridors have none — an honest null result, not a bug).</a:t>
            </a:r>
            <a:endParaRPr lang="en-US" sz="1200" dirty="0"/>
          </a:p>
        </p:txBody>
      </p:sp>
      <p:sp>
        <p:nvSpPr>
          <p:cNvPr id="7" name="Text 3"/>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RESULTS · LAYER A</a:t>
            </a:r>
            <a:endParaRPr lang="en-US" sz="1300" dirty="0"/>
          </a:p>
        </p:txBody>
      </p:sp>
      <p:sp>
        <p:nvSpPr>
          <p:cNvPr id="3" name="Text 1"/>
          <p:cNvSpPr/>
          <p:nvPr/>
        </p:nvSpPr>
        <p:spPr>
          <a:xfrm>
            <a:off x="548640" y="658368"/>
            <a:ext cx="1115568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Reconnecting Lebanon would make Beirut a regional bridge</a:t>
            </a:r>
            <a:endParaRPr lang="en-US" sz="3200" dirty="0"/>
          </a:p>
        </p:txBody>
      </p:sp>
      <p:pic>
        <p:nvPicPr>
          <p:cNvPr id="4" name="Image 0" descr="/sessions/sharp-serene-curie/mnt/outputs/pptx_build/layerA_centrality_comparison.png">    </p:cNvPr>
          <p:cNvPicPr>
            <a:picLocks noChangeAspect="1"/>
          </p:cNvPicPr>
          <p:nvPr/>
        </p:nvPicPr>
        <p:blipFill>
          <a:blip r:embed="rId1"/>
          <a:srcRect l="0" r="0" t="0" b="0"/>
          <a:stretch/>
        </p:blipFill>
        <p:spPr>
          <a:xfrm>
            <a:off x="548640" y="1691640"/>
            <a:ext cx="6583680" cy="4476902"/>
          </a:xfrm>
          <a:prstGeom prst="rect">
            <a:avLst/>
          </a:prstGeom>
        </p:spPr>
      </p:pic>
      <p:sp>
        <p:nvSpPr>
          <p:cNvPr id="5" name="Text 2"/>
          <p:cNvSpPr/>
          <p:nvPr/>
        </p:nvSpPr>
        <p:spPr>
          <a:xfrm>
            <a:off x="7498080" y="2194560"/>
            <a:ext cx="4206240" cy="822960"/>
          </a:xfrm>
          <a:prstGeom prst="rect">
            <a:avLst/>
          </a:prstGeom>
          <a:noFill/>
          <a:ln/>
        </p:spPr>
        <p:txBody>
          <a:bodyPr wrap="square" lIns="0" tIns="0" rIns="0" bIns="0" rtlCol="0" anchor="ctr"/>
          <a:lstStyle/>
          <a:p>
            <a:pPr algn="ctr" indent="0" marL="0">
              <a:buNone/>
            </a:pPr>
            <a:r>
              <a:rPr lang="en-US" sz="4400" b="1" dirty="0">
                <a:solidFill>
                  <a:srgbClr val="C8102E"/>
                </a:solidFill>
                <a:latin typeface="Cambria" pitchFamily="34" charset="0"/>
                <a:ea typeface="Cambria" pitchFamily="34" charset="-122"/>
                <a:cs typeface="Cambria" pitchFamily="34" charset="-120"/>
              </a:rPr>
              <a:t>+400%</a:t>
            </a:r>
            <a:endParaRPr lang="en-US" sz="4400" dirty="0"/>
          </a:p>
        </p:txBody>
      </p:sp>
      <p:sp>
        <p:nvSpPr>
          <p:cNvPr id="6" name="Text 3"/>
          <p:cNvSpPr/>
          <p:nvPr/>
        </p:nvSpPr>
        <p:spPr>
          <a:xfrm>
            <a:off x="7498080" y="2971800"/>
            <a:ext cx="4206240" cy="502920"/>
          </a:xfrm>
          <a:prstGeom prst="rect">
            <a:avLst/>
          </a:prstGeom>
          <a:noFill/>
          <a:ln/>
        </p:spPr>
        <p:txBody>
          <a:bodyPr wrap="square" lIns="0" tIns="0" rIns="0" bIns="0" rtlCol="0" anchor="ctr"/>
          <a:lstStyle/>
          <a:p>
            <a:pPr algn="ctr" indent="0" marL="0">
              <a:buNone/>
            </a:pPr>
            <a:r>
              <a:rPr lang="en-US" sz="1200" dirty="0">
                <a:solidFill>
                  <a:srgbClr val="5B6B6B"/>
                </a:solidFill>
                <a:latin typeface="Calibri" pitchFamily="34" charset="0"/>
                <a:ea typeface="Calibri" pitchFamily="34" charset="-122"/>
                <a:cs typeface="Calibri" pitchFamily="34" charset="-120"/>
              </a:rPr>
              <a:t>Beirut's betweenness centrality, status quo → proposed</a:t>
            </a:r>
            <a:endParaRPr lang="en-US" sz="1200" dirty="0"/>
          </a:p>
        </p:txBody>
      </p:sp>
      <p:sp>
        <p:nvSpPr>
          <p:cNvPr id="7" name="Text 4"/>
          <p:cNvSpPr/>
          <p:nvPr/>
        </p:nvSpPr>
        <p:spPr>
          <a:xfrm>
            <a:off x="7498080" y="3749040"/>
            <a:ext cx="4206240" cy="21031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Betweenness centrality measures how often a node sits on the shortest path between two others — a structural 'bridge' score. Restoring the historic rail, the Hejaz Railway revival corridor, and the 2026 ferry doesn't just add links to Beirut — it makes Beirut the node everything else routes through.</a:t>
            </a:r>
            <a:endParaRPr lang="en-US" sz="1250" dirty="0"/>
          </a:p>
        </p:txBody>
      </p:sp>
      <p:sp>
        <p:nvSpPr>
          <p:cNvPr id="8" name="Text 5"/>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RESULTS · LAYER A</a:t>
            </a:r>
            <a:endParaRPr lang="en-US" sz="1300" dirty="0"/>
          </a:p>
        </p:txBody>
      </p:sp>
      <p:sp>
        <p:nvSpPr>
          <p:cNvPr id="3" name="Text 1"/>
          <p:cNvSpPr/>
          <p:nvPr/>
        </p:nvSpPr>
        <p:spPr>
          <a:xfrm>
            <a:off x="548640" y="658368"/>
            <a:ext cx="1115568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The network — and a result I kept instead of hiding</a:t>
            </a:r>
            <a:endParaRPr lang="en-US" sz="3200" dirty="0"/>
          </a:p>
        </p:txBody>
      </p:sp>
      <p:pic>
        <p:nvPicPr>
          <p:cNvPr id="4" name="Image 0" descr="/sessions/sharp-serene-curie/mnt/outputs/pptx_build/layerA_network_diagram.png">    </p:cNvPr>
          <p:cNvPicPr>
            <a:picLocks noChangeAspect="1"/>
          </p:cNvPicPr>
          <p:nvPr/>
        </p:nvPicPr>
        <p:blipFill>
          <a:blip r:embed="rId1"/>
          <a:srcRect l="0" r="0" t="0" b="0"/>
          <a:stretch/>
        </p:blipFill>
        <p:spPr>
          <a:xfrm>
            <a:off x="457200" y="1645920"/>
            <a:ext cx="6949440" cy="4725619"/>
          </a:xfrm>
          <a:prstGeom prst="rect">
            <a:avLst/>
          </a:prstGeom>
        </p:spPr>
      </p:pic>
      <p:sp>
        <p:nvSpPr>
          <p:cNvPr id="5" name="Text 2"/>
          <p:cNvSpPr/>
          <p:nvPr/>
        </p:nvSpPr>
        <p:spPr>
          <a:xfrm>
            <a:off x="7589520" y="1828800"/>
            <a:ext cx="4114800" cy="548640"/>
          </a:xfrm>
          <a:prstGeom prst="rect">
            <a:avLst/>
          </a:prstGeom>
          <a:noFill/>
          <a:ln/>
        </p:spPr>
        <p:txBody>
          <a:bodyPr wrap="square" lIns="0" tIns="0" rIns="0" bIns="0" rtlCol="0" anchor="ctr"/>
          <a:lstStyle/>
          <a:p>
            <a:pPr indent="0" marL="0">
              <a:buNone/>
            </a:pPr>
            <a:r>
              <a:rPr lang="en-US" sz="2400" b="1" dirty="0">
                <a:solidFill>
                  <a:srgbClr val="C8102E"/>
                </a:solidFill>
                <a:latin typeface="Cambria" pitchFamily="34" charset="0"/>
                <a:ea typeface="Cambria" pitchFamily="34" charset="-122"/>
                <a:cs typeface="Cambria" pitchFamily="34" charset="-120"/>
              </a:rPr>
              <a:t>0.0082 → 0.0046  (−44%)</a:t>
            </a:r>
            <a:endParaRPr lang="en-US" sz="2400" dirty="0"/>
          </a:p>
        </p:txBody>
      </p:sp>
      <p:sp>
        <p:nvSpPr>
          <p:cNvPr id="6" name="Text 3"/>
          <p:cNvSpPr/>
          <p:nvPr/>
        </p:nvSpPr>
        <p:spPr>
          <a:xfrm>
            <a:off x="7589520" y="2331720"/>
            <a:ext cx="4114800" cy="365760"/>
          </a:xfrm>
          <a:prstGeom prst="rect">
            <a:avLst/>
          </a:prstGeom>
          <a:noFill/>
          <a:ln/>
        </p:spPr>
        <p:txBody>
          <a:bodyPr wrap="square" lIns="0" tIns="0" rIns="0" bIns="0" rtlCol="0" anchor="ctr"/>
          <a:lstStyle/>
          <a:p>
            <a:pPr indent="0" marL="0">
              <a:buNone/>
            </a:pPr>
            <a:r>
              <a:rPr lang="en-US" sz="1300" b="1" dirty="0">
                <a:solidFill>
                  <a:srgbClr val="0E3A45"/>
                </a:solidFill>
                <a:latin typeface="Calibri" pitchFamily="34" charset="0"/>
                <a:ea typeface="Calibri" pitchFamily="34" charset="-122"/>
                <a:cs typeface="Calibri" pitchFamily="34" charset="-120"/>
              </a:rPr>
              <a:t>Beirut's closeness centrality — it FALLS</a:t>
            </a:r>
            <a:endParaRPr lang="en-US" sz="1300" dirty="0"/>
          </a:p>
        </p:txBody>
      </p:sp>
      <p:sp>
        <p:nvSpPr>
          <p:cNvPr id="7" name="Text 4"/>
          <p:cNvSpPr/>
          <p:nvPr/>
        </p:nvSpPr>
        <p:spPr>
          <a:xfrm>
            <a:off x="7589520" y="2834640"/>
            <a:ext cx="4114800" cy="310896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Not a bug. Closeness measures average distance to every reachable node. The proposed network makes genuinely distant places reachable for the first time — Riyadh, Mersin, Larnaca, hundreds to ~1,500km away. Average distance rises faster than reach does.</a:t>
            </a:r>
            <a:endParaRPr lang="en-US" sz="1250" dirty="0"/>
          </a:p>
          <a:p>
            <a:pPr indent="0" marL="0">
              <a:buNone/>
            </a:pPr>
            <a:endParaRPr lang="en-US" sz="1250" dirty="0"/>
          </a:p>
          <a:p>
            <a:pPr indent="0" marL="0">
              <a:buNone/>
            </a:pPr>
            <a:r>
              <a:rPr lang="en-US" sz="1250" dirty="0">
                <a:solidFill>
                  <a:srgbClr val="1B2B2B"/>
                </a:solidFill>
                <a:latin typeface="Calibri" pitchFamily="34" charset="0"/>
                <a:ea typeface="Calibri" pitchFamily="34" charset="-122"/>
                <a:cs typeface="Calibri" pitchFamily="34" charset="-120"/>
              </a:rPr>
              <a:t>Reconnecting Lebanon is a bridging/gateway role, not a 'closer to everything' one — a real, worth-reporting finding I chose to explain rather than quietly drop.</a:t>
            </a:r>
            <a:endParaRPr lang="en-US" sz="1250" dirty="0"/>
          </a:p>
        </p:txBody>
      </p:sp>
      <p:sp>
        <p:nvSpPr>
          <p:cNvPr id="8" name="Text 5"/>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3A45"/>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FEAE3"/>
                </a:solidFill>
                <a:latin typeface="Calibri" pitchFamily="34" charset="0"/>
                <a:ea typeface="Calibri" pitchFamily="34" charset="-122"/>
                <a:cs typeface="Calibri" pitchFamily="34" charset="-120"/>
              </a:rPr>
              <a:t>CONTRIBUTIONS</a:t>
            </a:r>
            <a:endParaRPr lang="en-US" sz="13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What's actually novel here</a:t>
            </a:r>
            <a:endParaRPr lang="en-US" sz="3200" dirty="0"/>
          </a:p>
        </p:txBody>
      </p:sp>
      <p:sp>
        <p:nvSpPr>
          <p:cNvPr id="4" name="Text 2"/>
          <p:cNvSpPr/>
          <p:nvPr/>
        </p:nvSpPr>
        <p:spPr>
          <a:xfrm>
            <a:off x="548640" y="1783080"/>
            <a:ext cx="5349240" cy="36576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Design, not diagnosis</a:t>
            </a:r>
            <a:endParaRPr lang="en-US" sz="1500" dirty="0"/>
          </a:p>
        </p:txBody>
      </p:sp>
      <p:sp>
        <p:nvSpPr>
          <p:cNvPr id="5" name="Text 3"/>
          <p:cNvSpPr/>
          <p:nvPr/>
        </p:nvSpPr>
        <p:spPr>
          <a:xfrm>
            <a:off x="548640" y="2148840"/>
            <a:ext cx="5349240" cy="1005840"/>
          </a:xfrm>
          <a:prstGeom prst="rect">
            <a:avLst/>
          </a:prstGeom>
          <a:noFill/>
          <a:ln/>
        </p:spPr>
        <p:txBody>
          <a:bodyPr wrap="square" lIns="0" tIns="0" rIns="0" bIns="0" rtlCol="0" anchor="t"/>
          <a:lstStyle/>
          <a:p>
            <a:pPr indent="0" marL="0">
              <a:buNone/>
            </a:pPr>
            <a:r>
              <a:rPr lang="en-US" sz="1200" dirty="0">
                <a:solidFill>
                  <a:srgbClr val="CFEAE3"/>
                </a:solidFill>
                <a:latin typeface="Calibri" pitchFamily="34" charset="0"/>
                <a:ea typeface="Calibri" pitchFamily="34" charset="-122"/>
                <a:cs typeface="Calibri" pitchFamily="34" charset="-120"/>
              </a:rPr>
              <a:t>An optimization algorithm that proposes an actual route network (MCLP), not a model that just flags problems.</a:t>
            </a:r>
            <a:endParaRPr lang="en-US" sz="1200" dirty="0"/>
          </a:p>
        </p:txBody>
      </p:sp>
      <p:sp>
        <p:nvSpPr>
          <p:cNvPr id="6" name="Text 4"/>
          <p:cNvSpPr/>
          <p:nvPr/>
        </p:nvSpPr>
        <p:spPr>
          <a:xfrm>
            <a:off x="6172200" y="1783080"/>
            <a:ext cx="5349240" cy="36576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Two honestly-different scales</a:t>
            </a:r>
            <a:endParaRPr lang="en-US" sz="1500" dirty="0"/>
          </a:p>
        </p:txBody>
      </p:sp>
      <p:sp>
        <p:nvSpPr>
          <p:cNvPr id="7" name="Text 5"/>
          <p:cNvSpPr/>
          <p:nvPr/>
        </p:nvSpPr>
        <p:spPr>
          <a:xfrm>
            <a:off x="6172200" y="2148840"/>
            <a:ext cx="5349240" cy="1005840"/>
          </a:xfrm>
          <a:prstGeom prst="rect">
            <a:avLst/>
          </a:prstGeom>
          <a:noFill/>
          <a:ln/>
        </p:spPr>
        <p:txBody>
          <a:bodyPr wrap="square" lIns="0" tIns="0" rIns="0" bIns="0" rtlCol="0" anchor="t"/>
          <a:lstStyle/>
          <a:p>
            <a:pPr indent="0" marL="0">
              <a:buNone/>
            </a:pPr>
            <a:r>
              <a:rPr lang="en-US" sz="1200" dirty="0">
                <a:solidFill>
                  <a:srgbClr val="CFEAE3"/>
                </a:solidFill>
                <a:latin typeface="Calibri" pitchFamily="34" charset="0"/>
                <a:ea typeface="Calibri" pitchFamily="34" charset="-122"/>
                <a:cs typeface="Calibri" pitchFamily="34" charset="-120"/>
              </a:rPr>
              <a:t>A lightweight graph-abstraction method for national vision, reconciled with a fully-simulated method for a real pilot — instead of overreaching on one.</a:t>
            </a:r>
            <a:endParaRPr lang="en-US" sz="1200" dirty="0"/>
          </a:p>
        </p:txBody>
      </p:sp>
      <p:sp>
        <p:nvSpPr>
          <p:cNvPr id="8" name="Text 6"/>
          <p:cNvSpPr/>
          <p:nvPr/>
        </p:nvSpPr>
        <p:spPr>
          <a:xfrm>
            <a:off x="548640" y="3246120"/>
            <a:ext cx="5349240" cy="36576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Grounded in live regional history</a:t>
            </a:r>
            <a:endParaRPr lang="en-US" sz="1500" dirty="0"/>
          </a:p>
        </p:txBody>
      </p:sp>
      <p:sp>
        <p:nvSpPr>
          <p:cNvPr id="9" name="Text 7"/>
          <p:cNvSpPr/>
          <p:nvPr/>
        </p:nvSpPr>
        <p:spPr>
          <a:xfrm>
            <a:off x="548640" y="3611880"/>
            <a:ext cx="5349240" cy="1005840"/>
          </a:xfrm>
          <a:prstGeom prst="rect">
            <a:avLst/>
          </a:prstGeom>
          <a:noFill/>
          <a:ln/>
        </p:spPr>
        <p:txBody>
          <a:bodyPr wrap="square" lIns="0" tIns="0" rIns="0" bIns="0" rtlCol="0" anchor="t"/>
          <a:lstStyle/>
          <a:p>
            <a:pPr indent="0" marL="0">
              <a:buNone/>
            </a:pPr>
            <a:r>
              <a:rPr lang="en-US" sz="1200" dirty="0">
                <a:solidFill>
                  <a:srgbClr val="CFEAE3"/>
                </a:solidFill>
                <a:latin typeface="Calibri" pitchFamily="34" charset="0"/>
                <a:ea typeface="Calibri" pitchFamily="34" charset="-122"/>
                <a:cs typeface="Calibri" pitchFamily="34" charset="-120"/>
              </a:rPr>
              <a:t>The Hejaz Railway revival and the Jounieh ferry are 2025-2026 real developments — this project is timed with them, not speculative.</a:t>
            </a:r>
            <a:endParaRPr lang="en-US" sz="1200" dirty="0"/>
          </a:p>
        </p:txBody>
      </p:sp>
      <p:sp>
        <p:nvSpPr>
          <p:cNvPr id="10" name="Text 8"/>
          <p:cNvSpPr/>
          <p:nvPr/>
        </p:nvSpPr>
        <p:spPr>
          <a:xfrm>
            <a:off x="6172200" y="3246120"/>
            <a:ext cx="5349240" cy="36576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Full reproducibility</a:t>
            </a:r>
            <a:endParaRPr lang="en-US" sz="1500" dirty="0"/>
          </a:p>
        </p:txBody>
      </p:sp>
      <p:sp>
        <p:nvSpPr>
          <p:cNvPr id="11" name="Text 9"/>
          <p:cNvSpPr/>
          <p:nvPr/>
        </p:nvSpPr>
        <p:spPr>
          <a:xfrm>
            <a:off x="6172200" y="3611880"/>
            <a:ext cx="5349240" cy="1005840"/>
          </a:xfrm>
          <a:prstGeom prst="rect">
            <a:avLst/>
          </a:prstGeom>
          <a:noFill/>
          <a:ln/>
        </p:spPr>
        <p:txBody>
          <a:bodyPr wrap="square" lIns="0" tIns="0" rIns="0" bIns="0" rtlCol="0" anchor="t"/>
          <a:lstStyle/>
          <a:p>
            <a:pPr indent="0" marL="0">
              <a:buNone/>
            </a:pPr>
            <a:r>
              <a:rPr lang="en-US" sz="1200" dirty="0">
                <a:solidFill>
                  <a:srgbClr val="CFEAE3"/>
                </a:solidFill>
                <a:latin typeface="Calibri" pitchFamily="34" charset="0"/>
                <a:ea typeface="Calibri" pitchFamily="34" charset="-122"/>
                <a:cs typeface="Calibri" pitchFamily="34" charset="-120"/>
              </a:rPr>
              <a:t>One command (`run_pipeline.py`) rebuilds every number and every figure in this deck from source data. 16/16 tests passing.</a:t>
            </a:r>
            <a:endParaRPr lang="en-US" sz="1200" dirty="0"/>
          </a:p>
        </p:txBody>
      </p:sp>
      <p:sp>
        <p:nvSpPr>
          <p:cNvPr id="12" name="Text 10"/>
          <p:cNvSpPr/>
          <p:nvPr/>
        </p:nvSpPr>
        <p:spPr>
          <a:xfrm>
            <a:off x="548640" y="4709160"/>
            <a:ext cx="5349240" cy="36576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Real bugs, documented</a:t>
            </a:r>
            <a:endParaRPr lang="en-US" sz="1500" dirty="0"/>
          </a:p>
        </p:txBody>
      </p:sp>
      <p:sp>
        <p:nvSpPr>
          <p:cNvPr id="13" name="Text 11"/>
          <p:cNvSpPr/>
          <p:nvPr/>
        </p:nvSpPr>
        <p:spPr>
          <a:xfrm>
            <a:off x="548640" y="5074920"/>
            <a:ext cx="5349240" cy="1005840"/>
          </a:xfrm>
          <a:prstGeom prst="rect">
            <a:avLst/>
          </a:prstGeom>
          <a:noFill/>
          <a:ln/>
        </p:spPr>
        <p:txBody>
          <a:bodyPr wrap="square" lIns="0" tIns="0" rIns="0" bIns="0" rtlCol="0" anchor="t"/>
          <a:lstStyle/>
          <a:p>
            <a:pPr indent="0" marL="0">
              <a:buNone/>
            </a:pPr>
            <a:r>
              <a:rPr lang="en-US" sz="1200" dirty="0">
                <a:solidFill>
                  <a:srgbClr val="CFEAE3"/>
                </a:solidFill>
                <a:latin typeface="Calibri" pitchFamily="34" charset="0"/>
                <a:ea typeface="Calibri" pitchFamily="34" charset="-122"/>
                <a:cs typeface="Calibri" pitchFamily="34" charset="-120"/>
              </a:rPr>
              <a:t>Five real data bugs found and fixed during actual runs (directed-graph connectivity, a wrong-direction Dijkstra trick, a simulation window sizing bug...) — logged, not erased.</a:t>
            </a:r>
            <a:endParaRPr lang="en-US" sz="1200" dirty="0"/>
          </a:p>
        </p:txBody>
      </p:sp>
      <p:sp>
        <p:nvSpPr>
          <p:cNvPr id="14" name="Text 12"/>
          <p:cNvSpPr/>
          <p:nvPr/>
        </p:nvSpPr>
        <p:spPr>
          <a:xfrm>
            <a:off x="6172200" y="4709160"/>
            <a:ext cx="5349240" cy="36576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Honest about limits</a:t>
            </a:r>
            <a:endParaRPr lang="en-US" sz="1500" dirty="0"/>
          </a:p>
        </p:txBody>
      </p:sp>
      <p:sp>
        <p:nvSpPr>
          <p:cNvPr id="15" name="Text 13"/>
          <p:cNvSpPr/>
          <p:nvPr/>
        </p:nvSpPr>
        <p:spPr>
          <a:xfrm>
            <a:off x="6172200" y="5074920"/>
            <a:ext cx="5349240" cy="1005840"/>
          </a:xfrm>
          <a:prstGeom prst="rect">
            <a:avLst/>
          </a:prstGeom>
          <a:noFill/>
          <a:ln/>
        </p:spPr>
        <p:txBody>
          <a:bodyPr wrap="square" lIns="0" tIns="0" rIns="0" bIns="0" rtlCol="0" anchor="t"/>
          <a:lstStyle/>
          <a:p>
            <a:pPr indent="0" marL="0">
              <a:buNone/>
            </a:pPr>
            <a:r>
              <a:rPr lang="en-US" sz="1200" dirty="0">
                <a:solidFill>
                  <a:srgbClr val="CFEAE3"/>
                </a:solidFill>
                <a:latin typeface="Calibri" pitchFamily="34" charset="0"/>
                <a:ea typeface="Calibri" pitchFamily="34" charset="-122"/>
                <a:cs typeface="Calibri" pitchFamily="34" charset="-120"/>
              </a:rPr>
              <a:t>Every result states its own caveats in the same breath — see next slide.</a:t>
            </a:r>
            <a:endParaRPr lang="en-US" sz="1200" dirty="0"/>
          </a:p>
        </p:txBody>
      </p:sp>
      <p:sp>
        <p:nvSpPr>
          <p:cNvPr id="16" name="Text 14"/>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HONESTY ABOUT LIMITS</a:t>
            </a:r>
            <a:endParaRPr lang="en-US" sz="1300" dirty="0"/>
          </a:p>
        </p:txBody>
      </p:sp>
      <p:sp>
        <p:nvSpPr>
          <p:cNvPr id="3" name="Text 1"/>
          <p:cNvSpPr/>
          <p:nvPr/>
        </p:nvSpPr>
        <p:spPr>
          <a:xfrm>
            <a:off x="548640" y="658368"/>
            <a:ext cx="1115568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What we are — and aren't — claiming</a:t>
            </a:r>
            <a:endParaRPr lang="en-US" sz="3200" dirty="0"/>
          </a:p>
        </p:txBody>
      </p:sp>
      <p:sp>
        <p:nvSpPr>
          <p:cNvPr id="4" name="Text 2"/>
          <p:cNvSpPr/>
          <p:nvPr/>
        </p:nvSpPr>
        <p:spPr>
          <a:xfrm>
            <a:off x="548640" y="1737360"/>
            <a:ext cx="5394960" cy="320040"/>
          </a:xfrm>
          <a:prstGeom prst="rect">
            <a:avLst/>
          </a:prstGeom>
          <a:noFill/>
          <a:ln/>
        </p:spPr>
        <p:txBody>
          <a:bodyPr wrap="square" lIns="0" tIns="0" rIns="0" bIns="0"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Layer B</a:t>
            </a:r>
            <a:endParaRPr lang="en-US" sz="1500" dirty="0"/>
          </a:p>
        </p:txBody>
      </p:sp>
      <p:sp>
        <p:nvSpPr>
          <p:cNvPr id="5" name="Text 3"/>
          <p:cNvSpPr/>
          <p:nvPr/>
        </p:nvSpPr>
        <p:spPr>
          <a:xfrm>
            <a:off x="548640" y="2103120"/>
            <a:ext cx="5394960" cy="7315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  OD demand is representative hub-based flow, not a full four-step travel demand model.</a:t>
            </a:r>
            <a:endParaRPr lang="en-US" sz="1250" dirty="0"/>
          </a:p>
        </p:txBody>
      </p:sp>
      <p:sp>
        <p:nvSpPr>
          <p:cNvPr id="6" name="Text 4"/>
          <p:cNvSpPr/>
          <p:nvPr/>
        </p:nvSpPr>
        <p:spPr>
          <a:xfrm>
            <a:off x="548640" y="2880360"/>
            <a:ext cx="5394960" cy="7315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  Feeder route geometry is heuristic stop-chaining, not full vehicle routing.</a:t>
            </a:r>
            <a:endParaRPr lang="en-US" sz="1250" dirty="0"/>
          </a:p>
        </p:txBody>
      </p:sp>
      <p:sp>
        <p:nvSpPr>
          <p:cNvPr id="7" name="Text 5"/>
          <p:cNvSpPr/>
          <p:nvPr/>
        </p:nvSpPr>
        <p:spPr>
          <a:xfrm>
            <a:off x="548640" y="3657600"/>
            <a:ext cx="5394960" cy="7315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  The congestion multiplier on OSM free-flow speeds is a documented, unvalidated placeholder.</a:t>
            </a:r>
            <a:endParaRPr lang="en-US" sz="1250" dirty="0"/>
          </a:p>
        </p:txBody>
      </p:sp>
      <p:sp>
        <p:nvSpPr>
          <p:cNvPr id="8" name="Text 6"/>
          <p:cNvSpPr/>
          <p:nvPr/>
        </p:nvSpPr>
        <p:spPr>
          <a:xfrm>
            <a:off x="6263640" y="1737360"/>
            <a:ext cx="5394960" cy="32004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Layer A</a:t>
            </a:r>
            <a:endParaRPr lang="en-US" sz="1500" dirty="0"/>
          </a:p>
        </p:txBody>
      </p:sp>
      <p:sp>
        <p:nvSpPr>
          <p:cNvPr id="9" name="Text 7"/>
          <p:cNvSpPr/>
          <p:nvPr/>
        </p:nvSpPr>
        <p:spPr>
          <a:xfrm>
            <a:off x="6263640" y="2103120"/>
            <a:ext cx="5394960" cy="7315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  Layer A's edge weight is great-circle distance — a topological abstraction, not a costed or routing-grade network.</a:t>
            </a:r>
            <a:endParaRPr lang="en-US" sz="1250" dirty="0"/>
          </a:p>
        </p:txBody>
      </p:sp>
      <p:sp>
        <p:nvSpPr>
          <p:cNvPr id="10" name="Text 8"/>
          <p:cNvSpPr/>
          <p:nvPr/>
        </p:nvSpPr>
        <p:spPr>
          <a:xfrm>
            <a:off x="6263640" y="2880360"/>
            <a:ext cx="5394960" cy="7315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  Layer A's node coordinates were pre-seeded (network-blocked sandbox) with known-accurate values for well-documented places — flagged for live re-verification.</a:t>
            </a:r>
            <a:endParaRPr lang="en-US" sz="1250" dirty="0"/>
          </a:p>
        </p:txBody>
      </p:sp>
      <p:sp>
        <p:nvSpPr>
          <p:cNvPr id="11" name="Text 9"/>
          <p:cNvSpPr/>
          <p:nvPr/>
        </p:nvSpPr>
        <p:spPr>
          <a:xfrm>
            <a:off x="6263640" y="3657600"/>
            <a:ext cx="5394960" cy="73152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  3 of Layer B's real trunk lines (ML1, ML4, B6-ML2) have unconfirmed regular-operation status per the project's own earlier QA — carried through honestly, not smoothed over.</a:t>
            </a:r>
            <a:endParaRPr lang="en-US" sz="1250" dirty="0"/>
          </a:p>
        </p:txBody>
      </p:sp>
      <p:sp>
        <p:nvSpPr>
          <p:cNvPr id="12" name="Text 10"/>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3A45"/>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FEAE3"/>
                </a:solidFill>
                <a:latin typeface="Calibri" pitchFamily="34" charset="0"/>
                <a:ea typeface="Calibri" pitchFamily="34" charset="-122"/>
                <a:cs typeface="Calibri" pitchFamily="34" charset="-120"/>
              </a:rPr>
              <a:t>WHERE THIS GOES NEXT</a:t>
            </a:r>
            <a:endParaRPr lang="en-US" sz="1300" dirty="0"/>
          </a:p>
        </p:txBody>
      </p:sp>
      <p:sp>
        <p:nvSpPr>
          <p:cNvPr id="3" name="Text 1"/>
          <p:cNvSpPr/>
          <p:nvPr/>
        </p:nvSpPr>
        <p:spPr>
          <a:xfrm>
            <a:off x="548640" y="658368"/>
            <a:ext cx="107899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phased roadmap, tied to real initiatives already underway</a:t>
            </a:r>
            <a:endParaRPr lang="en-US" sz="3200" dirty="0"/>
          </a:p>
        </p:txBody>
      </p:sp>
      <p:sp>
        <p:nvSpPr>
          <p:cNvPr id="4" name="Shape 2"/>
          <p:cNvSpPr/>
          <p:nvPr/>
        </p:nvSpPr>
        <p:spPr>
          <a:xfrm>
            <a:off x="548640" y="2011680"/>
            <a:ext cx="2606040" cy="3291840"/>
          </a:xfrm>
          <a:prstGeom prst="roundRect">
            <a:avLst>
              <a:gd name="adj" fmla="val 2807"/>
            </a:avLst>
          </a:prstGeom>
          <a:solidFill>
            <a:srgbClr val="1B4332"/>
          </a:solidFill>
          <a:ln/>
        </p:spPr>
      </p:sp>
      <p:sp>
        <p:nvSpPr>
          <p:cNvPr id="5" name="Text 3"/>
          <p:cNvSpPr/>
          <p:nvPr/>
        </p:nvSpPr>
        <p:spPr>
          <a:xfrm>
            <a:off x="731520" y="2194560"/>
            <a:ext cx="2240280" cy="365760"/>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Phase 1</a:t>
            </a:r>
            <a:endParaRPr lang="en-US" sz="1300" dirty="0"/>
          </a:p>
        </p:txBody>
      </p:sp>
      <p:sp>
        <p:nvSpPr>
          <p:cNvPr id="6" name="Text 4"/>
          <p:cNvSpPr/>
          <p:nvPr/>
        </p:nvSpPr>
        <p:spPr>
          <a:xfrm>
            <a:off x="731520" y="2560320"/>
            <a:ext cx="2240280" cy="8229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This project's Beirut pilot</a:t>
            </a:r>
            <a:endParaRPr lang="en-US" sz="1500" dirty="0"/>
          </a:p>
        </p:txBody>
      </p:sp>
      <p:sp>
        <p:nvSpPr>
          <p:cNvPr id="7" name="Text 5"/>
          <p:cNvSpPr/>
          <p:nvPr/>
        </p:nvSpPr>
        <p:spPr>
          <a:xfrm>
            <a:off x="731520" y="3429000"/>
            <a:ext cx="2240280" cy="1737360"/>
          </a:xfrm>
          <a:prstGeom prst="rect">
            <a:avLst/>
          </a:prstGeom>
          <a:noFill/>
          <a:ln/>
        </p:spPr>
        <p:txBody>
          <a:bodyPr wrap="square" lIns="0" tIns="0" rIns="0" bIns="0" rtlCol="0" anchor="t"/>
          <a:lstStyle/>
          <a:p>
            <a:pPr indent="0" marL="0">
              <a:buNone/>
            </a:pPr>
            <a:r>
              <a:rPr lang="en-US" sz="1150" dirty="0">
                <a:solidFill>
                  <a:srgbClr val="CFEAE3"/>
                </a:solidFill>
                <a:latin typeface="Calibri" pitchFamily="34" charset="0"/>
                <a:ea typeface="Calibri" pitchFamily="34" charset="-122"/>
                <a:cs typeface="Calibri" pitchFamily="34" charset="-120"/>
              </a:rPr>
              <a:t>Feeder network + signal priority, one region, proven in simulation.</a:t>
            </a:r>
            <a:endParaRPr lang="en-US" sz="1150" dirty="0"/>
          </a:p>
        </p:txBody>
      </p:sp>
      <p:sp>
        <p:nvSpPr>
          <p:cNvPr id="8" name="Text 6"/>
          <p:cNvSpPr/>
          <p:nvPr/>
        </p:nvSpPr>
        <p:spPr>
          <a:xfrm>
            <a:off x="3154680" y="3291840"/>
            <a:ext cx="18288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9" name="Shape 7"/>
          <p:cNvSpPr/>
          <p:nvPr/>
        </p:nvSpPr>
        <p:spPr>
          <a:xfrm>
            <a:off x="3337560" y="2011680"/>
            <a:ext cx="2606040" cy="3291840"/>
          </a:xfrm>
          <a:prstGeom prst="roundRect">
            <a:avLst>
              <a:gd name="adj" fmla="val 2807"/>
            </a:avLst>
          </a:prstGeom>
          <a:solidFill>
            <a:srgbClr val="134A3A"/>
          </a:solidFill>
          <a:ln/>
        </p:spPr>
      </p:sp>
      <p:sp>
        <p:nvSpPr>
          <p:cNvPr id="10" name="Text 8"/>
          <p:cNvSpPr/>
          <p:nvPr/>
        </p:nvSpPr>
        <p:spPr>
          <a:xfrm>
            <a:off x="3520440" y="2194560"/>
            <a:ext cx="2240280" cy="365760"/>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Phase 2</a:t>
            </a:r>
            <a:endParaRPr lang="en-US" sz="1300" dirty="0"/>
          </a:p>
        </p:txBody>
      </p:sp>
      <p:sp>
        <p:nvSpPr>
          <p:cNvPr id="11" name="Text 9"/>
          <p:cNvSpPr/>
          <p:nvPr/>
        </p:nvSpPr>
        <p:spPr>
          <a:xfrm>
            <a:off x="3520440" y="2560320"/>
            <a:ext cx="2240280" cy="8229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Replicate the method</a:t>
            </a:r>
            <a:endParaRPr lang="en-US" sz="1500" dirty="0"/>
          </a:p>
        </p:txBody>
      </p:sp>
      <p:sp>
        <p:nvSpPr>
          <p:cNvPr id="12" name="Text 10"/>
          <p:cNvSpPr/>
          <p:nvPr/>
        </p:nvSpPr>
        <p:spPr>
          <a:xfrm>
            <a:off x="3520440" y="3429000"/>
            <a:ext cx="2240280" cy="1737360"/>
          </a:xfrm>
          <a:prstGeom prst="rect">
            <a:avLst/>
          </a:prstGeom>
          <a:noFill/>
          <a:ln/>
        </p:spPr>
        <p:txBody>
          <a:bodyPr wrap="square" lIns="0" tIns="0" rIns="0" bIns="0" rtlCol="0" anchor="t"/>
          <a:lstStyle/>
          <a:p>
            <a:pPr indent="0" marL="0">
              <a:buNone/>
            </a:pPr>
            <a:r>
              <a:rPr lang="en-US" sz="1150" dirty="0">
                <a:solidFill>
                  <a:srgbClr val="CFEAE3"/>
                </a:solidFill>
                <a:latin typeface="Calibri" pitchFamily="34" charset="0"/>
                <a:ea typeface="Calibri" pitchFamily="34" charset="-122"/>
                <a:cs typeface="Calibri" pitchFamily="34" charset="-120"/>
              </a:rPr>
              <a:t>Run the same AI network-design approach around Tripoli, Saida, Tyre, Jounieh.</a:t>
            </a:r>
            <a:endParaRPr lang="en-US" sz="1150" dirty="0"/>
          </a:p>
        </p:txBody>
      </p:sp>
      <p:sp>
        <p:nvSpPr>
          <p:cNvPr id="13" name="Text 11"/>
          <p:cNvSpPr/>
          <p:nvPr/>
        </p:nvSpPr>
        <p:spPr>
          <a:xfrm>
            <a:off x="5943600" y="3291840"/>
            <a:ext cx="18288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14" name="Shape 12"/>
          <p:cNvSpPr/>
          <p:nvPr/>
        </p:nvSpPr>
        <p:spPr>
          <a:xfrm>
            <a:off x="6126480" y="2011680"/>
            <a:ext cx="2606040" cy="3291840"/>
          </a:xfrm>
          <a:prstGeom prst="roundRect">
            <a:avLst>
              <a:gd name="adj" fmla="val 2807"/>
            </a:avLst>
          </a:prstGeom>
          <a:solidFill>
            <a:srgbClr val="1B4332"/>
          </a:solidFill>
          <a:ln/>
        </p:spPr>
      </p:sp>
      <p:sp>
        <p:nvSpPr>
          <p:cNvPr id="15" name="Text 13"/>
          <p:cNvSpPr/>
          <p:nvPr/>
        </p:nvSpPr>
        <p:spPr>
          <a:xfrm>
            <a:off x="6309360" y="2194560"/>
            <a:ext cx="2240280" cy="365760"/>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Phase 3</a:t>
            </a:r>
            <a:endParaRPr lang="en-US" sz="1300" dirty="0"/>
          </a:p>
        </p:txBody>
      </p:sp>
      <p:sp>
        <p:nvSpPr>
          <p:cNvPr id="16" name="Text 14"/>
          <p:cNvSpPr/>
          <p:nvPr/>
        </p:nvSpPr>
        <p:spPr>
          <a:xfrm>
            <a:off x="6309360" y="2560320"/>
            <a:ext cx="2240280" cy="8229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Domestic rail revival</a:t>
            </a:r>
            <a:endParaRPr lang="en-US" sz="1500" dirty="0"/>
          </a:p>
        </p:txBody>
      </p:sp>
      <p:sp>
        <p:nvSpPr>
          <p:cNvPr id="17" name="Text 15"/>
          <p:cNvSpPr/>
          <p:nvPr/>
        </p:nvSpPr>
        <p:spPr>
          <a:xfrm>
            <a:off x="6309360" y="3429000"/>
            <a:ext cx="2240280" cy="1737360"/>
          </a:xfrm>
          <a:prstGeom prst="rect">
            <a:avLst/>
          </a:prstGeom>
          <a:noFill/>
          <a:ln/>
        </p:spPr>
        <p:txBody>
          <a:bodyPr wrap="square" lIns="0" tIns="0" rIns="0" bIns="0" rtlCol="0" anchor="t"/>
          <a:lstStyle/>
          <a:p>
            <a:pPr indent="0" marL="0">
              <a:buNone/>
            </a:pPr>
            <a:r>
              <a:rPr lang="en-US" sz="1150" dirty="0">
                <a:solidFill>
                  <a:srgbClr val="CFEAE3"/>
                </a:solidFill>
                <a:latin typeface="Calibri" pitchFamily="34" charset="0"/>
                <a:ea typeface="Calibri" pitchFamily="34" charset="-122"/>
                <a:cs typeface="Calibri" pitchFamily="34" charset="-120"/>
              </a:rPr>
              <a:t>Beirut–Bekaa–Damascus and Tripoli–Homs, tied to OCFTC/ACTC and the Ministry of Public Works.</a:t>
            </a:r>
            <a:endParaRPr lang="en-US" sz="1150" dirty="0"/>
          </a:p>
        </p:txBody>
      </p:sp>
      <p:sp>
        <p:nvSpPr>
          <p:cNvPr id="18" name="Text 16"/>
          <p:cNvSpPr/>
          <p:nvPr/>
        </p:nvSpPr>
        <p:spPr>
          <a:xfrm>
            <a:off x="8732520" y="3291840"/>
            <a:ext cx="18288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19" name="Shape 17"/>
          <p:cNvSpPr/>
          <p:nvPr/>
        </p:nvSpPr>
        <p:spPr>
          <a:xfrm>
            <a:off x="8915400" y="2011680"/>
            <a:ext cx="2606040" cy="3291840"/>
          </a:xfrm>
          <a:prstGeom prst="roundRect">
            <a:avLst>
              <a:gd name="adj" fmla="val 2807"/>
            </a:avLst>
          </a:prstGeom>
          <a:solidFill>
            <a:srgbClr val="134A3A"/>
          </a:solidFill>
          <a:ln/>
        </p:spPr>
      </p:sp>
      <p:sp>
        <p:nvSpPr>
          <p:cNvPr id="20" name="Text 18"/>
          <p:cNvSpPr/>
          <p:nvPr/>
        </p:nvSpPr>
        <p:spPr>
          <a:xfrm>
            <a:off x="9098280" y="2194560"/>
            <a:ext cx="2240280" cy="365760"/>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Phase 4</a:t>
            </a:r>
            <a:endParaRPr lang="en-US" sz="1300" dirty="0"/>
          </a:p>
        </p:txBody>
      </p:sp>
      <p:sp>
        <p:nvSpPr>
          <p:cNvPr id="21" name="Text 19"/>
          <p:cNvSpPr/>
          <p:nvPr/>
        </p:nvSpPr>
        <p:spPr>
          <a:xfrm>
            <a:off x="9098280" y="2560320"/>
            <a:ext cx="2240280" cy="8229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Regional integration</a:t>
            </a:r>
            <a:endParaRPr lang="en-US" sz="1500" dirty="0"/>
          </a:p>
        </p:txBody>
      </p:sp>
      <p:sp>
        <p:nvSpPr>
          <p:cNvPr id="22" name="Text 20"/>
          <p:cNvSpPr/>
          <p:nvPr/>
        </p:nvSpPr>
        <p:spPr>
          <a:xfrm>
            <a:off x="9098280" y="3429000"/>
            <a:ext cx="2240280" cy="1737360"/>
          </a:xfrm>
          <a:prstGeom prst="rect">
            <a:avLst/>
          </a:prstGeom>
          <a:noFill/>
          <a:ln/>
        </p:spPr>
        <p:txBody>
          <a:bodyPr wrap="square" lIns="0" tIns="0" rIns="0" bIns="0" rtlCol="0" anchor="t"/>
          <a:lstStyle/>
          <a:p>
            <a:pPr indent="0" marL="0">
              <a:buNone/>
            </a:pPr>
            <a:r>
              <a:rPr lang="en-US" sz="1150" dirty="0">
                <a:solidFill>
                  <a:srgbClr val="CFEAE3"/>
                </a:solidFill>
                <a:latin typeface="Calibri" pitchFamily="34" charset="0"/>
                <a:ea typeface="Calibri" pitchFamily="34" charset="-122"/>
                <a:cs typeface="Calibri" pitchFamily="34" charset="-120"/>
              </a:rPr>
              <a:t>Plug into the Arab Mashreq Railway and the Hejaz Railway revival already being negotiated.</a:t>
            </a:r>
            <a:endParaRPr lang="en-US" sz="1150" dirty="0"/>
          </a:p>
        </p:txBody>
      </p:sp>
      <p:sp>
        <p:nvSpPr>
          <p:cNvPr id="23" name="Text 21"/>
          <p:cNvSpPr/>
          <p:nvPr/>
        </p:nvSpPr>
        <p:spPr>
          <a:xfrm>
            <a:off x="548640" y="5623560"/>
            <a:ext cx="11064240" cy="457200"/>
          </a:xfrm>
          <a:prstGeom prst="rect">
            <a:avLst/>
          </a:prstGeom>
          <a:noFill/>
          <a:ln/>
        </p:spPr>
        <p:txBody>
          <a:bodyPr wrap="square" lIns="0" tIns="0" rIns="0" bIns="0" rtlCol="0" anchor="ctr"/>
          <a:lstStyle/>
          <a:p>
            <a:pPr indent="0" marL="0">
              <a:buNone/>
            </a:pPr>
            <a:r>
              <a:rPr lang="en-US" sz="1300" i="1" dirty="0">
                <a:solidFill>
                  <a:srgbClr val="CFEAE3"/>
                </a:solidFill>
                <a:latin typeface="Calibri" pitchFamily="34" charset="0"/>
                <a:ea typeface="Calibri" pitchFamily="34" charset="-122"/>
                <a:cs typeface="Calibri" pitchFamily="34" charset="-120"/>
              </a:rPr>
              <a:t>End state: public transport, not the private car, is the default way to move through Lebanon.</a:t>
            </a:r>
            <a:endParaRPr lang="en-US" sz="1300" dirty="0"/>
          </a:p>
        </p:txBody>
      </p:sp>
      <p:sp>
        <p:nvSpPr>
          <p:cNvPr id="24" name="Text 22"/>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REFLECTION</a:t>
            </a:r>
            <a:endParaRPr lang="en-US" sz="1300" dirty="0"/>
          </a:p>
        </p:txBody>
      </p:sp>
      <p:sp>
        <p:nvSpPr>
          <p:cNvPr id="3" name="Text 1"/>
          <p:cNvSpPr/>
          <p:nvPr/>
        </p:nvSpPr>
        <p:spPr>
          <a:xfrm>
            <a:off x="548640" y="658368"/>
            <a:ext cx="1115568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Rewarding and challenging, in equal measure</a:t>
            </a:r>
            <a:endParaRPr lang="en-US" sz="3200" dirty="0"/>
          </a:p>
        </p:txBody>
      </p:sp>
      <p:sp>
        <p:nvSpPr>
          <p:cNvPr id="4" name="Shape 2"/>
          <p:cNvSpPr/>
          <p:nvPr/>
        </p:nvSpPr>
        <p:spPr>
          <a:xfrm>
            <a:off x="548640" y="1783080"/>
            <a:ext cx="5349240" cy="4023360"/>
          </a:xfrm>
          <a:prstGeom prst="roundRect">
            <a:avLst>
              <a:gd name="adj" fmla="val 1818"/>
            </a:avLst>
          </a:prstGeom>
          <a:solidFill>
            <a:srgbClr val="EAF0EE"/>
          </a:solidFill>
          <a:ln/>
          <a:effectLst>
            <a:outerShdw sx="100000" sy="100000" kx="0" ky="0" algn="bl" rotWithShape="0" blurRad="76200" dist="25400" dir="5400000">
              <a:srgbClr val="999999">
                <a:alpha val="18000"/>
              </a:srgbClr>
            </a:outerShdw>
          </a:effectLst>
        </p:spPr>
      </p:sp>
      <p:sp>
        <p:nvSpPr>
          <p:cNvPr id="5" name="Text 3"/>
          <p:cNvSpPr/>
          <p:nvPr/>
        </p:nvSpPr>
        <p:spPr>
          <a:xfrm>
            <a:off x="822960" y="2011680"/>
            <a:ext cx="4846320" cy="365760"/>
          </a:xfrm>
          <a:prstGeom prst="rect">
            <a:avLst/>
          </a:prstGeom>
          <a:noFill/>
          <a:ln/>
        </p:spPr>
        <p:txBody>
          <a:bodyPr wrap="square" lIns="0" tIns="0" rIns="0" bIns="0" rtlCol="0" anchor="ctr"/>
          <a:lstStyle/>
          <a:p>
            <a:pPr indent="0" marL="0">
              <a:buNone/>
            </a:pPr>
            <a:r>
              <a:rPr lang="en-US" sz="1600" b="1" dirty="0">
                <a:solidFill>
                  <a:srgbClr val="1B4332"/>
                </a:solidFill>
                <a:latin typeface="Calibri" pitchFamily="34" charset="0"/>
                <a:ea typeface="Calibri" pitchFamily="34" charset="-122"/>
                <a:cs typeface="Calibri" pitchFamily="34" charset="-120"/>
              </a:rPr>
              <a:t>Rewarding</a:t>
            </a:r>
            <a:endParaRPr lang="en-US" sz="1600" dirty="0"/>
          </a:p>
        </p:txBody>
      </p:sp>
      <p:sp>
        <p:nvSpPr>
          <p:cNvPr id="6" name="Text 4"/>
          <p:cNvSpPr/>
          <p:nvPr/>
        </p:nvSpPr>
        <p:spPr>
          <a:xfrm>
            <a:off x="822960" y="2423160"/>
            <a:ext cx="4846320" cy="320040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 Seeing real numbers come out of real code — 92.2%→97.4%, +400% centrality — not estimates.</a:t>
            </a:r>
            <a:endParaRPr lang="en-US" sz="1250" dirty="0"/>
          </a:p>
          <a:p>
            <a:pPr indent="0" marL="0">
              <a:buNone/>
            </a:pPr>
            <a:endParaRPr lang="en-US" sz="1250" dirty="0"/>
          </a:p>
          <a:p>
            <a:pPr indent="0" marL="0">
              <a:buNone/>
            </a:pPr>
            <a:r>
              <a:rPr lang="en-US" sz="1250" dirty="0">
                <a:solidFill>
                  <a:srgbClr val="1B2B2B"/>
                </a:solidFill>
                <a:latin typeface="Calibri" pitchFamily="34" charset="0"/>
                <a:ea typeface="Calibri" pitchFamily="34" charset="-122"/>
                <a:cs typeface="Calibri" pitchFamily="34" charset="-120"/>
              </a:rPr>
              <a:t>• The discipline of descoping three separate times without losing the original ambition, just relocating it into a vision layer that could stay honest about its own scope.</a:t>
            </a:r>
            <a:endParaRPr lang="en-US" sz="1250" dirty="0"/>
          </a:p>
          <a:p>
            <a:pPr indent="0" marL="0">
              <a:buNone/>
            </a:pPr>
            <a:endParaRPr lang="en-US" sz="1250" dirty="0"/>
          </a:p>
          <a:p>
            <a:pPr indent="0" marL="0">
              <a:buNone/>
            </a:pPr>
            <a:r>
              <a:rPr lang="en-US" sz="1250" dirty="0">
                <a:solidFill>
                  <a:srgbClr val="1B2B2B"/>
                </a:solidFill>
                <a:latin typeface="Calibri" pitchFamily="34" charset="0"/>
                <a:ea typeface="Calibri" pitchFamily="34" charset="-122"/>
                <a:cs typeface="Calibri" pitchFamily="34" charset="-120"/>
              </a:rPr>
              <a:t>• Finding that the region's own history (the Hejaz Railway, Arab Mashreq Railway) was already pointing the same direction the project wanted to go.</a:t>
            </a:r>
            <a:endParaRPr lang="en-US" sz="1250" dirty="0"/>
          </a:p>
        </p:txBody>
      </p:sp>
      <p:sp>
        <p:nvSpPr>
          <p:cNvPr id="7" name="Shape 5"/>
          <p:cNvSpPr/>
          <p:nvPr/>
        </p:nvSpPr>
        <p:spPr>
          <a:xfrm>
            <a:off x="6263640" y="1783080"/>
            <a:ext cx="5349240" cy="4023360"/>
          </a:xfrm>
          <a:prstGeom prst="roundRect">
            <a:avLst>
              <a:gd name="adj" fmla="val 1818"/>
            </a:avLst>
          </a:prstGeom>
          <a:solidFill>
            <a:srgbClr val="EAF0EE"/>
          </a:solidFill>
          <a:ln/>
          <a:effectLst>
            <a:outerShdw sx="100000" sy="100000" kx="0" ky="0" algn="bl" rotWithShape="0" blurRad="76200" dist="25400" dir="5400000">
              <a:srgbClr val="999999">
                <a:alpha val="18000"/>
              </a:srgbClr>
            </a:outerShdw>
          </a:effectLst>
        </p:spPr>
      </p:sp>
      <p:sp>
        <p:nvSpPr>
          <p:cNvPr id="8" name="Text 6"/>
          <p:cNvSpPr/>
          <p:nvPr/>
        </p:nvSpPr>
        <p:spPr>
          <a:xfrm>
            <a:off x="6537960" y="2011680"/>
            <a:ext cx="4846320" cy="365760"/>
          </a:xfrm>
          <a:prstGeom prst="rect">
            <a:avLst/>
          </a:prstGeom>
          <a:noFill/>
          <a:ln/>
        </p:spPr>
        <p:txBody>
          <a:bodyPr wrap="square" lIns="0" tIns="0" rIns="0" bIns="0" rtlCol="0" anchor="ctr"/>
          <a:lstStyle/>
          <a:p>
            <a:pPr indent="0" marL="0">
              <a:buNone/>
            </a:pPr>
            <a:r>
              <a:rPr lang="en-US" sz="1600" b="1" dirty="0">
                <a:solidFill>
                  <a:srgbClr val="C8102E"/>
                </a:solidFill>
                <a:latin typeface="Calibri" pitchFamily="34" charset="0"/>
                <a:ea typeface="Calibri" pitchFamily="34" charset="-122"/>
                <a:cs typeface="Calibri" pitchFamily="34" charset="-120"/>
              </a:rPr>
              <a:t>Challenging</a:t>
            </a:r>
            <a:endParaRPr lang="en-US" sz="1600" dirty="0"/>
          </a:p>
        </p:txBody>
      </p:sp>
      <p:sp>
        <p:nvSpPr>
          <p:cNvPr id="9" name="Text 7"/>
          <p:cNvSpPr/>
          <p:nvPr/>
        </p:nvSpPr>
        <p:spPr>
          <a:xfrm>
            <a:off x="6537960" y="2423160"/>
            <a:ext cx="4846320" cy="3200400"/>
          </a:xfrm>
          <a:prstGeom prst="rect">
            <a:avLst/>
          </a:prstGeom>
          <a:noFill/>
          <a:ln/>
        </p:spPr>
        <p:txBody>
          <a:bodyPr wrap="square" lIns="0" tIns="0" rIns="0" bIns="0" rtlCol="0" anchor="t"/>
          <a:lstStyle/>
          <a:p>
            <a:pPr indent="0" marL="0">
              <a:buNone/>
            </a:pPr>
            <a:r>
              <a:rPr lang="en-US" sz="1250" dirty="0">
                <a:solidFill>
                  <a:srgbClr val="1B2B2B"/>
                </a:solidFill>
                <a:latin typeface="Calibri" pitchFamily="34" charset="0"/>
                <a:ea typeface="Calibri" pitchFamily="34" charset="-122"/>
                <a:cs typeface="Calibri" pitchFamily="34" charset="-120"/>
              </a:rPr>
              <a:t>• Balancing genuine national ambition against a solo, 3-week (then 7-day) timeline — without either abandoning the vision or letting it swallow the deliverable.</a:t>
            </a:r>
            <a:endParaRPr lang="en-US" sz="1250" dirty="0"/>
          </a:p>
          <a:p>
            <a:pPr indent="0" marL="0">
              <a:buNone/>
            </a:pPr>
            <a:endParaRPr lang="en-US" sz="1250" dirty="0"/>
          </a:p>
          <a:p>
            <a:pPr indent="0" marL="0">
              <a:buNone/>
            </a:pPr>
            <a:r>
              <a:rPr lang="en-US" sz="1250" dirty="0">
                <a:solidFill>
                  <a:srgbClr val="1B2B2B"/>
                </a:solidFill>
                <a:latin typeface="Calibri" pitchFamily="34" charset="0"/>
                <a:ea typeface="Calibri" pitchFamily="34" charset="-122"/>
                <a:cs typeface="Calibri" pitchFamily="34" charset="-120"/>
              </a:rPr>
              <a:t>• A sandboxed dev environment with no route to live geocoding — solved by pre-seeding known-accurate data and documenting exactly why that's low-risk here.</a:t>
            </a:r>
            <a:endParaRPr lang="en-US" sz="1250" dirty="0"/>
          </a:p>
          <a:p>
            <a:pPr indent="0" marL="0">
              <a:buNone/>
            </a:pPr>
            <a:endParaRPr lang="en-US" sz="1250" dirty="0"/>
          </a:p>
          <a:p>
            <a:pPr indent="0" marL="0">
              <a:buNone/>
            </a:pPr>
            <a:r>
              <a:rPr lang="en-US" sz="1250" dirty="0">
                <a:solidFill>
                  <a:srgbClr val="1B2B2B"/>
                </a:solidFill>
                <a:latin typeface="Calibri" pitchFamily="34" charset="0"/>
                <a:ea typeface="Calibri" pitchFamily="34" charset="-122"/>
                <a:cs typeface="Calibri" pitchFamily="34" charset="-120"/>
              </a:rPr>
              <a:t>• Reporting a counter-intuitive result (falling closeness centrality) honestly instead of quietly dropping the metric that didn't confirm the thesis.</a:t>
            </a:r>
            <a:endParaRPr lang="en-US" sz="1250" dirty="0"/>
          </a:p>
        </p:txBody>
      </p:sp>
      <p:sp>
        <p:nvSpPr>
          <p:cNvPr id="10" name="Text 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alibri" pitchFamily="34" charset="0"/>
                <a:ea typeface="Calibri" pitchFamily="34" charset="-122"/>
                <a:cs typeface="Calibri" pitchFamily="34" charset="-120"/>
              </a:rPr>
              <a:t>BETWEEN NOW AND SUBMISSION</a:t>
            </a:r>
            <a:endParaRPr lang="en-US" sz="1300" dirty="0"/>
          </a:p>
        </p:txBody>
      </p:sp>
      <p:sp>
        <p:nvSpPr>
          <p:cNvPr id="3" name="Text 1"/>
          <p:cNvSpPr/>
          <p:nvPr/>
        </p:nvSpPr>
        <p:spPr>
          <a:xfrm>
            <a:off x="548640" y="658368"/>
            <a:ext cx="11155680" cy="822960"/>
          </a:xfrm>
          <a:prstGeom prst="rect">
            <a:avLst/>
          </a:prstGeom>
          <a:noFill/>
          <a:ln/>
        </p:spPr>
        <p:txBody>
          <a:bodyPr wrap="square" lIns="0" tIns="0" rIns="0" bIns="0" rtlCol="0" anchor="ctr"/>
          <a:lstStyle/>
          <a:p>
            <a:pPr indent="0" marL="0">
              <a:buNone/>
            </a:pPr>
            <a:r>
              <a:rPr lang="en-US" sz="3200" b="1" dirty="0">
                <a:solidFill>
                  <a:srgbClr val="0E3A45"/>
                </a:solidFill>
                <a:latin typeface="Cambria" pitchFamily="34" charset="0"/>
                <a:ea typeface="Cambria" pitchFamily="34" charset="-122"/>
                <a:cs typeface="Cambria" pitchFamily="34" charset="-120"/>
              </a:rPr>
              <a:t>What's left</a:t>
            </a:r>
            <a:endParaRPr lang="en-US" sz="3200" dirty="0"/>
          </a:p>
        </p:txBody>
      </p:sp>
      <p:sp>
        <p:nvSpPr>
          <p:cNvPr id="4" name="Shape 2"/>
          <p:cNvSpPr/>
          <p:nvPr/>
        </p:nvSpPr>
        <p:spPr>
          <a:xfrm>
            <a:off x="548640" y="1828800"/>
            <a:ext cx="457200" cy="457200"/>
          </a:xfrm>
          <a:prstGeom prst="ellipse">
            <a:avLst/>
          </a:prstGeom>
          <a:solidFill>
            <a:srgbClr val="0E3A45"/>
          </a:solidFill>
          <a:ln/>
        </p:spPr>
      </p:sp>
      <p:sp>
        <p:nvSpPr>
          <p:cNvPr id="5" name="Text 3"/>
          <p:cNvSpPr/>
          <p:nvPr/>
        </p:nvSpPr>
        <p:spPr>
          <a:xfrm>
            <a:off x="548640" y="1828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p:nvPr/>
        </p:nvSpPr>
        <p:spPr>
          <a:xfrm>
            <a:off x="1170432" y="178308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Live re-verification</a:t>
            </a:r>
            <a:endParaRPr lang="en-US" sz="1500" dirty="0"/>
          </a:p>
        </p:txBody>
      </p:sp>
      <p:sp>
        <p:nvSpPr>
          <p:cNvPr id="7" name="Text 5"/>
          <p:cNvSpPr/>
          <p:nvPr/>
        </p:nvSpPr>
        <p:spPr>
          <a:xfrm>
            <a:off x="1170432" y="208483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Re-run the pipeline on a machine with normal internet access; spot-check the pre-seeded geocoding against live Nominatim.</a:t>
            </a:r>
            <a:endParaRPr lang="en-US" sz="1150" dirty="0"/>
          </a:p>
        </p:txBody>
      </p:sp>
      <p:sp>
        <p:nvSpPr>
          <p:cNvPr id="8" name="Shape 6"/>
          <p:cNvSpPr/>
          <p:nvPr/>
        </p:nvSpPr>
        <p:spPr>
          <a:xfrm>
            <a:off x="548640" y="2880360"/>
            <a:ext cx="457200" cy="457200"/>
          </a:xfrm>
          <a:prstGeom prst="ellipse">
            <a:avLst/>
          </a:prstGeom>
          <a:solidFill>
            <a:srgbClr val="0E3A45"/>
          </a:solidFill>
          <a:ln/>
        </p:spPr>
      </p:sp>
      <p:sp>
        <p:nvSpPr>
          <p:cNvPr id="9" name="Text 7"/>
          <p:cNvSpPr/>
          <p:nvPr/>
        </p:nvSpPr>
        <p:spPr>
          <a:xfrm>
            <a:off x="548640" y="2880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p:nvPr/>
        </p:nvSpPr>
        <p:spPr>
          <a:xfrm>
            <a:off x="1170432" y="283464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2-4 page final report</a:t>
            </a:r>
            <a:endParaRPr lang="en-US" sz="1500" dirty="0"/>
          </a:p>
        </p:txBody>
      </p:sp>
      <p:sp>
        <p:nvSpPr>
          <p:cNvPr id="11" name="Text 9"/>
          <p:cNvSpPr/>
          <p:nvPr/>
        </p:nvSpPr>
        <p:spPr>
          <a:xfrm>
            <a:off x="1170432" y="313639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Synthesize this deck's content into the required written report — most of the material already exists.</a:t>
            </a:r>
            <a:endParaRPr lang="en-US" sz="1150" dirty="0"/>
          </a:p>
        </p:txBody>
      </p:sp>
      <p:sp>
        <p:nvSpPr>
          <p:cNvPr id="12" name="Shape 10"/>
          <p:cNvSpPr/>
          <p:nvPr/>
        </p:nvSpPr>
        <p:spPr>
          <a:xfrm>
            <a:off x="548640" y="3931920"/>
            <a:ext cx="457200" cy="457200"/>
          </a:xfrm>
          <a:prstGeom prst="ellipse">
            <a:avLst/>
          </a:prstGeom>
          <a:solidFill>
            <a:srgbClr val="0E3A45"/>
          </a:solidFill>
          <a:ln/>
        </p:spPr>
      </p:sp>
      <p:sp>
        <p:nvSpPr>
          <p:cNvPr id="13" name="Text 11"/>
          <p:cNvSpPr/>
          <p:nvPr/>
        </p:nvSpPr>
        <p:spPr>
          <a:xfrm>
            <a:off x="548640"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p:nvPr/>
        </p:nvSpPr>
        <p:spPr>
          <a:xfrm>
            <a:off x="1170432" y="388620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3-minute video</a:t>
            </a:r>
            <a:endParaRPr lang="en-US" sz="1500" dirty="0"/>
          </a:p>
        </p:txBody>
      </p:sp>
      <p:sp>
        <p:nvSpPr>
          <p:cNvPr id="15" name="Text 13"/>
          <p:cNvSpPr/>
          <p:nvPr/>
        </p:nvSpPr>
        <p:spPr>
          <a:xfrm>
            <a:off x="1170432" y="418795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Walk through the plan, the two-layer execution, and the results shown here.</a:t>
            </a:r>
            <a:endParaRPr lang="en-US" sz="1150" dirty="0"/>
          </a:p>
        </p:txBody>
      </p:sp>
      <p:sp>
        <p:nvSpPr>
          <p:cNvPr id="16" name="Shape 14"/>
          <p:cNvSpPr/>
          <p:nvPr/>
        </p:nvSpPr>
        <p:spPr>
          <a:xfrm>
            <a:off x="548640" y="4983480"/>
            <a:ext cx="457200" cy="457200"/>
          </a:xfrm>
          <a:prstGeom prst="ellipse">
            <a:avLst/>
          </a:prstGeom>
          <a:solidFill>
            <a:srgbClr val="0E3A45"/>
          </a:solidFill>
          <a:ln/>
        </p:spPr>
      </p:sp>
      <p:sp>
        <p:nvSpPr>
          <p:cNvPr id="17" name="Text 15"/>
          <p:cNvSpPr/>
          <p:nvPr/>
        </p:nvSpPr>
        <p:spPr>
          <a:xfrm>
            <a:off x="548640" y="4983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p:nvPr/>
        </p:nvSpPr>
        <p:spPr>
          <a:xfrm>
            <a:off x="1170432" y="4937760"/>
            <a:ext cx="10259568" cy="320040"/>
          </a:xfrm>
          <a:prstGeom prst="rect">
            <a:avLst/>
          </a:prstGeom>
          <a:noFill/>
          <a:ln/>
        </p:spPr>
        <p:txBody>
          <a:bodyPr wrap="square" lIns="0" tIns="0" rIns="0" bIns="0" rtlCol="0" anchor="ctr"/>
          <a:lstStyle/>
          <a:p>
            <a:pPr indent="0" marL="0">
              <a:buNone/>
            </a:pPr>
            <a:r>
              <a:rPr lang="en-US" sz="1500" b="1" dirty="0">
                <a:solidFill>
                  <a:srgbClr val="0E3A45"/>
                </a:solidFill>
                <a:latin typeface="Calibri" pitchFamily="34" charset="0"/>
                <a:ea typeface="Calibri" pitchFamily="34" charset="-122"/>
                <a:cs typeface="Calibri" pitchFamily="34" charset="-120"/>
              </a:rPr>
              <a:t>GitHub</a:t>
            </a:r>
            <a:endParaRPr lang="en-US" sz="1500" dirty="0"/>
          </a:p>
        </p:txBody>
      </p:sp>
      <p:sp>
        <p:nvSpPr>
          <p:cNvPr id="19" name="Text 17"/>
          <p:cNvSpPr/>
          <p:nvPr/>
        </p:nvSpPr>
        <p:spPr>
          <a:xfrm>
            <a:off x="1170432" y="5239512"/>
            <a:ext cx="10259568" cy="566928"/>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Push the repository so the code is open-sourced as required.</a:t>
            </a:r>
            <a:endParaRPr lang="en-US" sz="1150" dirty="0"/>
          </a:p>
        </p:txBody>
      </p:sp>
      <p:sp>
        <p:nvSpPr>
          <p:cNvPr id="20" name="Text 1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B6B"/>
                </a:solidFill>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3A45"/>
        </a:solidFill>
      </p:bgPr>
    </p:bg>
    <p:spTree>
      <p:nvGrpSpPr>
        <p:cNvPr id="1" name=""/>
        <p:cNvGrpSpPr/>
        <p:nvPr/>
      </p:nvGrpSpPr>
      <p:grpSpPr>
        <a:xfrm>
          <a:off x="0" y="0"/>
          <a:ext cx="0" cy="0"/>
          <a:chOff x="0" y="0"/>
          <a:chExt cx="0" cy="0"/>
        </a:xfrm>
      </p:grpSpPr>
      <p:sp>
        <p:nvSpPr>
          <p:cNvPr id="2" name="Text 0"/>
          <p:cNvSpPr/>
          <p:nvPr/>
        </p:nvSpPr>
        <p:spPr>
          <a:xfrm>
            <a:off x="822960" y="23774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Lebanon ReConnect</a:t>
            </a:r>
            <a:endParaRPr lang="en-US" sz="4600" dirty="0"/>
          </a:p>
        </p:txBody>
      </p:sp>
      <p:sp>
        <p:nvSpPr>
          <p:cNvPr id="3" name="Text 1"/>
          <p:cNvSpPr/>
          <p:nvPr/>
        </p:nvSpPr>
        <p:spPr>
          <a:xfrm>
            <a:off x="822960" y="3200400"/>
            <a:ext cx="10058400" cy="548640"/>
          </a:xfrm>
          <a:prstGeom prst="rect">
            <a:avLst/>
          </a:prstGeom>
          <a:noFill/>
          <a:ln/>
        </p:spPr>
        <p:txBody>
          <a:bodyPr wrap="square" lIns="0" tIns="0" rIns="0" bIns="0" rtlCol="0" anchor="ctr"/>
          <a:lstStyle/>
          <a:p>
            <a:pPr indent="0" marL="0">
              <a:buNone/>
            </a:pPr>
            <a:r>
              <a:rPr lang="en-US" sz="1800" dirty="0">
                <a:solidFill>
                  <a:srgbClr val="CFEAE3"/>
                </a:solidFill>
                <a:latin typeface="Calibri" pitchFamily="34" charset="0"/>
                <a:ea typeface="Calibri" pitchFamily="34" charset="-122"/>
                <a:cs typeface="Calibri" pitchFamily="34" charset="-120"/>
              </a:rPr>
              <a:t>From one Beirut neighborhood to a reconnected region.</a:t>
            </a:r>
            <a:endParaRPr lang="en-US" sz="1800" dirty="0"/>
          </a:p>
        </p:txBody>
      </p:sp>
      <p:sp>
        <p:nvSpPr>
          <p:cNvPr id="4" name="Text 2"/>
          <p:cNvSpPr/>
          <p:nvPr/>
        </p:nvSpPr>
        <p:spPr>
          <a:xfrm>
            <a:off x="822960" y="4023360"/>
            <a:ext cx="5486400" cy="548640"/>
          </a:xfrm>
          <a:prstGeom prst="rect">
            <a:avLst/>
          </a:prstGeom>
          <a:noFill/>
          <a:ln/>
        </p:spPr>
        <p:txBody>
          <a:bodyPr wrap="square" lIns="0" tIns="0" rIns="0" bIns="0" rtlCol="0" anchor="ctr"/>
          <a:lstStyle/>
          <a:p>
            <a:pPr indent="0" marL="0">
              <a:buNone/>
            </a:pPr>
            <a:r>
              <a:rPr lang="en-US" sz="2000" b="1" dirty="0">
                <a:solidFill>
                  <a:srgbClr val="C8102E"/>
                </a:solidFill>
                <a:latin typeface="Cambria" pitchFamily="34" charset="0"/>
                <a:ea typeface="Cambria" pitchFamily="34" charset="-122"/>
                <a:cs typeface="Cambria" pitchFamily="34" charset="-120"/>
              </a:rPr>
              <a:t>Thank you.</a:t>
            </a:r>
            <a:endParaRPr lang="en-US" sz="2000" dirty="0"/>
          </a:p>
        </p:txBody>
      </p:sp>
      <p:sp>
        <p:nvSpPr>
          <p:cNvPr id="5" name="Text 3"/>
          <p:cNvSpPr/>
          <p:nvPr/>
        </p:nvSpPr>
        <p:spPr>
          <a:xfrm>
            <a:off x="822960" y="6263640"/>
            <a:ext cx="10058400" cy="365760"/>
          </a:xfrm>
          <a:prstGeom prst="rect">
            <a:avLst/>
          </a:prstGeom>
          <a:noFill/>
          <a:ln/>
        </p:spPr>
        <p:txBody>
          <a:bodyPr wrap="square" lIns="0" tIns="0" rIns="0" bIns="0" rtlCol="0" anchor="ctr"/>
          <a:lstStyle/>
          <a:p>
            <a:pPr indent="0" marL="0">
              <a:buNone/>
            </a:pPr>
            <a:r>
              <a:rPr lang="en-US" sz="1200" dirty="0">
                <a:solidFill>
                  <a:srgbClr val="CFEAE3"/>
                </a:solidFill>
                <a:latin typeface="Calibri" pitchFamily="34" charset="0"/>
                <a:ea typeface="Calibri" pitchFamily="34" charset="-122"/>
                <a:cs typeface="Calibri" pitchFamily="34" charset="-120"/>
              </a:rPr>
              <a:t>Maher Bekdash  ·  maherbekdash05@gmail.com  ·  LebNet Tech Fellows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2026-08-13T09:12:13Z</dcterms:created>
  <dcterms:modified xsi:type="dcterms:W3CDTF">2026-08-13T09:12:13Z</dcterms:modified>
</cp:coreProperties>
</file>